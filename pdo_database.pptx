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59" r:id="rId2"/>
    <p:sldId id="277" r:id="rId3"/>
    <p:sldId id="275" r:id="rId4"/>
    <p:sldId id="276" r:id="rId5"/>
    <p:sldId id="278" r:id="rId6"/>
    <p:sldId id="279" r:id="rId7"/>
    <p:sldId id="280" r:id="rId8"/>
    <p:sldId id="282" r:id="rId9"/>
    <p:sldId id="283" r:id="rId10"/>
    <p:sldId id="285" r:id="rId11"/>
    <p:sldId id="284" r:id="rId12"/>
    <p:sldId id="286" r:id="rId13"/>
    <p:sldId id="287" r:id="rId14"/>
    <p:sldId id="294" r:id="rId15"/>
    <p:sldId id="296" r:id="rId16"/>
    <p:sldId id="289" r:id="rId17"/>
    <p:sldId id="288" r:id="rId18"/>
    <p:sldId id="290" r:id="rId19"/>
    <p:sldId id="297" r:id="rId20"/>
    <p:sldId id="298" r:id="rId21"/>
    <p:sldId id="291" r:id="rId22"/>
    <p:sldId id="292" r:id="rId23"/>
    <p:sldId id="29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9ED6"/>
    <a:srgbClr val="2411AF"/>
    <a:srgbClr val="003300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96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74" autoAdjust="0"/>
    <p:restoredTop sz="98224" autoAdjust="0"/>
  </p:normalViewPr>
  <p:slideViewPr>
    <p:cSldViewPr>
      <p:cViewPr>
        <p:scale>
          <a:sx n="80" d="100"/>
          <a:sy n="80" d="100"/>
        </p:scale>
        <p:origin x="-1182" y="2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4" d="100"/>
        <a:sy n="154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3144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FDC75-7F73-4A4A-A77C-09AADF00E0EA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9226BF-1F13-42D3-80DC-373E7ADD1E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740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EF76B-3757-4A0B-AF93-28494465C1DD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93FD4-8F83-4EF7-AC3F-0DC0388986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169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This template can be used as a starter file for presenting training materials in a group setting.</a:t>
            </a:r>
          </a:p>
          <a:p>
            <a:endParaRPr lang="en-US" dirty="0" smtClean="0"/>
          </a:p>
          <a:p>
            <a:pPr lvl="0"/>
            <a:r>
              <a:rPr lang="en-US" sz="1200" b="1" dirty="0" smtClean="0"/>
              <a:t>Sections</a:t>
            </a:r>
            <a:endParaRPr lang="en-US" sz="1200" b="0" dirty="0" smtClean="0"/>
          </a:p>
          <a:p>
            <a:pPr lvl="0"/>
            <a:r>
              <a:rPr lang="en-US" sz="1200" b="0" dirty="0" smtClean="0"/>
              <a:t>Right-click on a slide to add sections.</a:t>
            </a:r>
            <a:r>
              <a:rPr lang="en-US" sz="1200" b="0" baseline="0" dirty="0" smtClean="0"/>
              <a:t> Sections can help to organize your slides or facilitate collaboration between multiple authors.</a:t>
            </a:r>
            <a:endParaRPr lang="en-US" sz="1200" b="0" dirty="0" smtClean="0"/>
          </a:p>
          <a:p>
            <a:pPr lvl="0"/>
            <a:endParaRPr lang="en-US" sz="1200" b="1" dirty="0" smtClean="0"/>
          </a:p>
          <a:p>
            <a:pPr lvl="0"/>
            <a:r>
              <a:rPr lang="en-US" sz="1200" b="1" dirty="0" smtClean="0"/>
              <a:t>Notes</a:t>
            </a:r>
          </a:p>
          <a:p>
            <a:pPr lvl="0"/>
            <a:r>
              <a:rPr lang="en-US" sz="1200" dirty="0" smtClean="0"/>
              <a:t>Use the Notes section for delivery notes or to provide additional details for the audience.</a:t>
            </a:r>
            <a:r>
              <a:rPr lang="en-US" sz="1200" baseline="0" dirty="0" smtClean="0"/>
              <a:t> View these notes in Presentation View during your presentation. </a:t>
            </a:r>
          </a:p>
          <a:p>
            <a:pPr lvl="0">
              <a:buFontTx/>
              <a:buNone/>
            </a:pPr>
            <a:r>
              <a:rPr lang="en-US" sz="1200" dirty="0" smtClean="0"/>
              <a:t>Keep in mind the font size (important for accessibility, visibility, videotaping, and online production)</a:t>
            </a:r>
          </a:p>
          <a:p>
            <a:pPr lvl="0"/>
            <a:endParaRPr lang="en-US" sz="1200" dirty="0" smtClean="0"/>
          </a:p>
          <a:p>
            <a:pPr lvl="0">
              <a:buFontTx/>
              <a:buNone/>
            </a:pPr>
            <a:r>
              <a:rPr lang="en-US" sz="1200" b="1" dirty="0" smtClean="0"/>
              <a:t>Coordinated colors </a:t>
            </a:r>
          </a:p>
          <a:p>
            <a:pPr lvl="0">
              <a:buFontTx/>
              <a:buNone/>
            </a:pPr>
            <a:r>
              <a:rPr lang="en-US" sz="1200" dirty="0" smtClean="0"/>
              <a:t>Pay particular attention to the graphs, charts, and text boxes.</a:t>
            </a:r>
            <a:r>
              <a:rPr lang="en-US" sz="1200" baseline="0" dirty="0" smtClean="0"/>
              <a:t> </a:t>
            </a:r>
            <a:endParaRPr lang="en-US" sz="1200" dirty="0" smtClean="0"/>
          </a:p>
          <a:p>
            <a:pPr lvl="0"/>
            <a:r>
              <a:rPr lang="en-US" sz="1200" dirty="0" smtClean="0"/>
              <a:t>Consider that attendees will print in black and white or </a:t>
            </a:r>
            <a:r>
              <a:rPr lang="en-US" sz="1200" dirty="0" err="1" smtClean="0"/>
              <a:t>grayscale</a:t>
            </a:r>
            <a:r>
              <a:rPr lang="en-US" sz="1200" dirty="0" smtClean="0"/>
              <a:t>. Run a test print to make sure your colors work when printed in pure black and white and </a:t>
            </a:r>
            <a:r>
              <a:rPr lang="en-US" sz="1200" dirty="0" err="1" smtClean="0"/>
              <a:t>grayscale</a:t>
            </a:r>
            <a:r>
              <a:rPr lang="en-US" sz="1200" dirty="0" smtClean="0"/>
              <a:t>.</a:t>
            </a:r>
          </a:p>
          <a:p>
            <a:pPr lvl="0">
              <a:buFontTx/>
              <a:buNone/>
            </a:pPr>
            <a:endParaRPr lang="en-US" sz="1200" dirty="0" smtClean="0"/>
          </a:p>
          <a:p>
            <a:pPr lvl="0">
              <a:buFontTx/>
              <a:buNone/>
            </a:pPr>
            <a:r>
              <a:rPr lang="en-US" sz="1200" b="1" dirty="0" smtClean="0"/>
              <a:t>Graphics, tables, and graphs</a:t>
            </a:r>
          </a:p>
          <a:p>
            <a:pPr lvl="0"/>
            <a:r>
              <a:rPr lang="en-US" sz="1200" dirty="0" smtClean="0"/>
              <a:t>Keep it simple: If possible, use consistent, non-distracting styles and colors.</a:t>
            </a:r>
          </a:p>
          <a:p>
            <a:pPr lvl="0"/>
            <a:r>
              <a:rPr lang="en-US" sz="1200" dirty="0" smtClean="0"/>
              <a:t>Label all graphs and tables.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3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/>
          <a:p>
            <a:r>
              <a:rPr lang="en-US" dirty="0" smtClean="0"/>
              <a:t>Microsoft </a:t>
            </a:r>
            <a:r>
              <a:rPr lang="en-US" b="1" dirty="0" smtClean="0"/>
              <a:t>Engineering Excellence</a:t>
            </a:r>
            <a:endParaRPr lang="en-US" dirty="0" smtClean="0"/>
          </a:p>
        </p:txBody>
      </p:sp>
      <p:sp>
        <p:nvSpPr>
          <p:cNvPr id="40963" name="Rectangle 25"/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/>
          <a:p>
            <a:r>
              <a:rPr lang="en-US" dirty="0" smtClean="0"/>
              <a:t>Microsoft Confidential</a:t>
            </a:r>
          </a:p>
        </p:txBody>
      </p:sp>
      <p:sp>
        <p:nvSpPr>
          <p:cNvPr id="40964" name="Rectangle 26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CEDE57-F8FE-4B43-B511-2E9F76624F74}" type="slidenum">
              <a:rPr lang="en-US" smtClean="0"/>
              <a:pPr/>
              <a:t>4</a:t>
            </a:fld>
            <a:endParaRPr lang="en-US" dirty="0" smtClean="0"/>
          </a:p>
        </p:txBody>
      </p:sp>
      <p:sp>
        <p:nvSpPr>
          <p:cNvPr id="4096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7288" y="449263"/>
            <a:ext cx="4541837" cy="3408362"/>
          </a:xfrm>
          <a:ln/>
        </p:spPr>
      </p:sp>
      <p:sp>
        <p:nvSpPr>
          <p:cNvPr id="409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7492" y="4139472"/>
            <a:ext cx="6261652" cy="4593861"/>
          </a:xfrm>
          <a:noFill/>
          <a:ln/>
        </p:spPr>
        <p:txBody>
          <a:bodyPr/>
          <a:lstStyle/>
          <a:p>
            <a:pPr>
              <a:buFontTx/>
              <a:buNone/>
            </a:pPr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0" y="2286000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0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/>
          <a:lstStyle>
            <a:lvl1pPr algn="l">
              <a:defRPr sz="4000"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 smtClean="0"/>
              <a:t>Company Logo</a:t>
            </a:r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0" y="269632"/>
            <a:ext cx="8077200" cy="1143000"/>
          </a:xfrm>
        </p:spPr>
        <p:txBody>
          <a:bodyPr anchor="ctr" anchorCtr="0"/>
          <a:lstStyle>
            <a:lvl1pPr algn="l">
              <a:defRPr lang="en-US" dirty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596413"/>
            <a:ext cx="8077200" cy="4297363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38"/>
            <a:ext cx="5867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0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0"/>
            <a:ext cx="28956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0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3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0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/>
              <a:pPr/>
              <a:t>4/24/2017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400" y="-109183"/>
            <a:ext cx="818707" cy="708318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54" r:id="rId10"/>
    <p:sldLayoutId id="2147483655" r:id="rId11"/>
    <p:sldLayoutId id="2147483663" r:id="rId12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PDO_connection%20driver%20options.docx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mk:@MSITStore:C:\cs_315_om_2013\php_database_object\pdo_database\PHP%20Manual.chm::/language.pseudo-types.html#language.types.mixed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../../../wamp/www/pdo_database_example_2016/pdoFunctions_example/select_pdo_ececute_bindparam.php" TargetMode="External"/><Relationship Id="rId2" Type="http://schemas.openxmlformats.org/officeDocument/2006/relationships/hyperlink" Target="http://localhost/pdo_database_example_2016/pdoFunctions_example/select_pdo_ececute_array.php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mk:@MSITStore:D:\books_Ibrahym\PHP\php_manual_en.chm::/res/language.pseudo-types.html#language.types.mixed" TargetMode="External"/><Relationship Id="rId4" Type="http://schemas.openxmlformats.org/officeDocument/2006/relationships/hyperlink" Target="../../../wamp/www/pdo_database_example_2016/pdoFunctions_example/select_pdo_ececute_bindparam_2var.php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../../../wamp/www/pdo_database_example_2016/pdoFunctions_example/select_pdo_prepare_fetchAll_rowCount.php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pPr algn="ctr"/>
            <a:r>
              <a:rPr lang="en-US" sz="6000" dirty="0"/>
              <a:t>database </a:t>
            </a:r>
            <a:r>
              <a:rPr lang="en-US" sz="6000" dirty="0" smtClean="0"/>
              <a:t/>
            </a:r>
            <a:br>
              <a:rPr lang="en-US" sz="6000" dirty="0" smtClean="0"/>
            </a:br>
            <a:endParaRPr lang="en-US" sz="600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429000" y="4038600"/>
            <a:ext cx="4772528" cy="990600"/>
          </a:xfrm>
        </p:spPr>
        <p:txBody>
          <a:bodyPr>
            <a:noAutofit/>
          </a:bodyPr>
          <a:lstStyle/>
          <a:p>
            <a:r>
              <a:rPr lang="en-US" sz="3600" dirty="0"/>
              <a:t>Using PDO </a:t>
            </a:r>
            <a:br>
              <a:rPr lang="en-US" sz="3600" dirty="0"/>
            </a:br>
            <a:endParaRPr lang="en-US" sz="3600" dirty="0"/>
          </a:p>
        </p:txBody>
      </p:sp>
    </p:spTree>
    <p:custDataLst>
      <p:tags r:id="rId1"/>
    </p:custData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98232"/>
            <a:ext cx="8077200" cy="79716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PHP 5 and later </a:t>
            </a:r>
            <a:r>
              <a:rPr lang="en-US" dirty="0" smtClean="0"/>
              <a:t>establishes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 smtClean="0">
                <a:solidFill>
                  <a:schemeClr val="accent1"/>
                </a:solidFill>
              </a:rPr>
              <a:t>Three ways </a:t>
            </a:r>
            <a:r>
              <a:rPr lang="en-US" dirty="0">
                <a:solidFill>
                  <a:schemeClr val="accent1"/>
                </a:solidFill>
              </a:rPr>
              <a:t>of working with </a:t>
            </a:r>
            <a:r>
              <a:rPr lang="en-US" dirty="0" smtClean="0">
                <a:solidFill>
                  <a:schemeClr val="accent1"/>
                </a:solidFill>
              </a:rPr>
              <a:t>the database :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MySQLi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:</a:t>
            </a:r>
            <a:endParaRPr lang="en-US" dirty="0"/>
          </a:p>
          <a:p>
            <a:pPr lvl="2"/>
            <a:r>
              <a:rPr lang="en-US" dirty="0" err="1" smtClean="0"/>
              <a:t>MySQLi</a:t>
            </a:r>
            <a:r>
              <a:rPr lang="en-US" dirty="0" smtClean="0"/>
              <a:t> (object-oriented)</a:t>
            </a:r>
          </a:p>
          <a:p>
            <a:pPr lvl="2"/>
            <a:r>
              <a:rPr lang="en-US" dirty="0" err="1" smtClean="0"/>
              <a:t>MySQLi</a:t>
            </a:r>
            <a:r>
              <a:rPr lang="en-US" dirty="0" smtClean="0"/>
              <a:t> </a:t>
            </a:r>
            <a:r>
              <a:rPr lang="en-US" dirty="0"/>
              <a:t>(procedural</a:t>
            </a:r>
            <a:r>
              <a:rPr lang="en-US" dirty="0" smtClean="0"/>
              <a:t>)</a:t>
            </a:r>
          </a:p>
          <a:p>
            <a:pPr lvl="0"/>
            <a:r>
              <a:rPr lang="en-US" dirty="0" smtClean="0">
                <a:solidFill>
                  <a:srgbClr val="FF0000"/>
                </a:solidFill>
              </a:rPr>
              <a:t>Many database system:</a:t>
            </a:r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US" dirty="0"/>
              <a:t>PDO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27296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62000" y="76200"/>
            <a:ext cx="8077200" cy="720968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Using  </a:t>
            </a:r>
            <a:r>
              <a:rPr lang="en-US" dirty="0"/>
              <a:t>MySQLi or </a:t>
            </a:r>
            <a:r>
              <a:rPr lang="en-US" dirty="0" smtClean="0"/>
              <a:t>PDO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9600" y="990600"/>
            <a:ext cx="8458200" cy="5638801"/>
          </a:xfrm>
        </p:spPr>
        <p:txBody>
          <a:bodyPr>
            <a:normAutofit/>
          </a:bodyPr>
          <a:lstStyle/>
          <a:p>
            <a:r>
              <a:rPr lang="en-US" dirty="0" smtClean="0"/>
              <a:t>PDO works on </a:t>
            </a:r>
            <a:r>
              <a:rPr lang="en-US" dirty="0"/>
              <a:t>12 different database systems, </a:t>
            </a:r>
            <a:r>
              <a:rPr lang="en-US" dirty="0" smtClean="0"/>
              <a:t>but  </a:t>
            </a:r>
            <a:r>
              <a:rPr lang="en-US" dirty="0" err="1"/>
              <a:t>MySQLi</a:t>
            </a:r>
            <a:r>
              <a:rPr lang="en-US" dirty="0"/>
              <a:t> </a:t>
            </a:r>
            <a:r>
              <a:rPr lang="en-US" dirty="0" smtClean="0"/>
              <a:t> works only on MySQL </a:t>
            </a:r>
            <a:r>
              <a:rPr lang="en-US" dirty="0"/>
              <a:t>databases.</a:t>
            </a:r>
          </a:p>
          <a:p>
            <a:r>
              <a:rPr lang="en-US" b="1" dirty="0" smtClean="0"/>
              <a:t>In PDO</a:t>
            </a:r>
            <a:r>
              <a:rPr lang="en-US" dirty="0" smtClean="0"/>
              <a:t>  </a:t>
            </a:r>
            <a:r>
              <a:rPr lang="en-US" dirty="0"/>
              <a:t>You only have to change the </a:t>
            </a:r>
            <a:r>
              <a:rPr lang="en-US" b="1" dirty="0">
                <a:solidFill>
                  <a:schemeClr val="accent1"/>
                </a:solidFill>
              </a:rPr>
              <a:t>connection string</a:t>
            </a:r>
            <a:r>
              <a:rPr lang="en-US" dirty="0"/>
              <a:t> and a </a:t>
            </a:r>
            <a:r>
              <a:rPr lang="en-US" dirty="0">
                <a:solidFill>
                  <a:schemeClr val="accent1"/>
                </a:solidFill>
              </a:rPr>
              <a:t>few queries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b="1" dirty="0" smtClean="0"/>
              <a:t>In </a:t>
            </a:r>
            <a:r>
              <a:rPr lang="en-US" b="1" dirty="0" err="1" smtClean="0"/>
              <a:t>MySQLi</a:t>
            </a:r>
            <a:r>
              <a:rPr lang="en-US" dirty="0"/>
              <a:t>, you will need to rewrite the entire code - queries included</a:t>
            </a:r>
            <a:r>
              <a:rPr lang="en-US" dirty="0" smtClean="0"/>
              <a:t>.</a:t>
            </a:r>
          </a:p>
          <a:p>
            <a:r>
              <a:rPr lang="en-US" b="1" dirty="0"/>
              <a:t>Both</a:t>
            </a:r>
            <a:r>
              <a:rPr lang="en-US" dirty="0"/>
              <a:t> support </a:t>
            </a:r>
            <a:r>
              <a:rPr lang="en-US" b="1" dirty="0">
                <a:solidFill>
                  <a:srgbClr val="FF0000"/>
                </a:solidFill>
              </a:rPr>
              <a:t>Prepared</a:t>
            </a:r>
            <a:r>
              <a:rPr lang="en-US" dirty="0"/>
              <a:t> Statements. </a:t>
            </a:r>
            <a:r>
              <a:rPr lang="en-US" dirty="0" smtClean="0"/>
              <a:t>This Statement protects </a:t>
            </a:r>
            <a:r>
              <a:rPr lang="en-US" dirty="0"/>
              <a:t>from </a:t>
            </a:r>
            <a:r>
              <a:rPr lang="en-US" dirty="0">
                <a:solidFill>
                  <a:srgbClr val="009ED6"/>
                </a:solidFill>
              </a:rPr>
              <a:t>SQL injection</a:t>
            </a:r>
            <a:r>
              <a:rPr lang="en-US" dirty="0"/>
              <a:t>, </a:t>
            </a:r>
            <a:r>
              <a:rPr lang="en-US" dirty="0" smtClean="0"/>
              <a:t>which  is very </a:t>
            </a:r>
            <a:r>
              <a:rPr lang="en-US" dirty="0"/>
              <a:t>important for web </a:t>
            </a:r>
            <a:r>
              <a:rPr lang="en-US" dirty="0" smtClean="0"/>
              <a:t>site </a:t>
            </a:r>
            <a:r>
              <a:rPr lang="en-US" dirty="0" smtClean="0">
                <a:solidFill>
                  <a:srgbClr val="00B050"/>
                </a:solidFill>
              </a:rPr>
              <a:t>security</a:t>
            </a:r>
            <a:r>
              <a:rPr lang="en-US" dirty="0"/>
              <a:t>.</a:t>
            </a:r>
          </a:p>
          <a:p>
            <a:endParaRPr lang="en-US" dirty="0" smtClean="0"/>
          </a:p>
        </p:txBody>
      </p:sp>
    </p:spTree>
    <p:custDataLst>
      <p:tags r:id="rId1"/>
    </p:custData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498" name="Rectangle 2"/>
          <p:cNvSpPr>
            <a:spLocks noGrp="1" noChangeArrowheads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GB" altLang="en-US" b="1" u="sng" dirty="0" smtClean="0">
                <a:solidFill>
                  <a:srgbClr val="336699"/>
                </a:solidFill>
              </a:rPr>
              <a:t>Working MySQL using PDO</a:t>
            </a:r>
            <a:endParaRPr lang="en-GB" altLang="en-US" dirty="0"/>
          </a:p>
        </p:txBody>
      </p:sp>
      <p:sp>
        <p:nvSpPr>
          <p:cNvPr id="618499" name="Rectangle 3"/>
          <p:cNvSpPr>
            <a:spLocks noGrp="1" noChangeArrowheads="1"/>
          </p:cNvSpPr>
          <p:nvPr>
            <p:ph type="body"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r>
              <a:rPr lang="en-GB" altLang="en-US" dirty="0" smtClean="0"/>
              <a:t>To </a:t>
            </a:r>
            <a:r>
              <a:rPr lang="en-GB" altLang="en-US" b="1" i="1" dirty="0" err="1">
                <a:solidFill>
                  <a:srgbClr val="00B050"/>
                </a:solidFill>
              </a:rPr>
              <a:t>communicat</a:t>
            </a:r>
            <a:r>
              <a:rPr lang="en-GB" altLang="en-US" dirty="0">
                <a:solidFill>
                  <a:srgbClr val="00B050"/>
                </a:solidFill>
              </a:rPr>
              <a:t> </a:t>
            </a:r>
            <a:r>
              <a:rPr lang="en-GB" altLang="en-US" dirty="0"/>
              <a:t>with your </a:t>
            </a:r>
            <a:r>
              <a:rPr lang="en-GB" altLang="en-US" dirty="0">
                <a:solidFill>
                  <a:srgbClr val="FF0000"/>
                </a:solidFill>
              </a:rPr>
              <a:t>MySQL</a:t>
            </a:r>
            <a:r>
              <a:rPr lang="en-GB" altLang="en-US" dirty="0"/>
              <a:t> database in order of( storing or getting data ) </a:t>
            </a:r>
          </a:p>
          <a:p>
            <a:r>
              <a:rPr lang="en-GB" altLang="en-US" dirty="0"/>
              <a:t>you have to follow this steps :</a:t>
            </a:r>
          </a:p>
          <a:p>
            <a:pPr>
              <a:buFontTx/>
              <a:buAutoNum type="arabicPeriod"/>
            </a:pPr>
            <a:r>
              <a:rPr lang="en-GB" altLang="en-US" dirty="0"/>
              <a:t>connecting to the MySQL server &amp; selecting a database</a:t>
            </a:r>
          </a:p>
          <a:p>
            <a:pPr>
              <a:buFontTx/>
              <a:buAutoNum type="arabicPeriod" startAt="2"/>
            </a:pPr>
            <a:r>
              <a:rPr lang="en-GB" altLang="en-US" dirty="0"/>
              <a:t>sending SQL queries.   </a:t>
            </a:r>
          </a:p>
          <a:p>
            <a:pPr>
              <a:buFontTx/>
              <a:buAutoNum type="arabicPeriod" startAt="2"/>
            </a:pPr>
            <a:r>
              <a:rPr lang="en-GB" altLang="en-US" dirty="0"/>
              <a:t>Getting data (in case of selecting query </a:t>
            </a:r>
            <a:r>
              <a:rPr lang="en-GB" altLang="en-US" dirty="0" smtClean="0"/>
              <a:t>)</a:t>
            </a:r>
            <a:endParaRPr lang="en-GB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8077200" cy="762000"/>
          </a:xfrm>
        </p:spPr>
        <p:txBody>
          <a:bodyPr>
            <a:normAutofit/>
          </a:bodyPr>
          <a:lstStyle/>
          <a:p>
            <a:r>
              <a:rPr lang="en-GB" altLang="en-US" b="1" u="sng" dirty="0" smtClean="0">
                <a:solidFill>
                  <a:srgbClr val="000099"/>
                </a:solidFill>
              </a:rPr>
              <a:t>1.Connecting </a:t>
            </a:r>
            <a:r>
              <a:rPr lang="en-GB" altLang="en-US" b="1" u="sng" dirty="0">
                <a:solidFill>
                  <a:srgbClr val="000099"/>
                </a:solidFill>
              </a:rPr>
              <a:t>to the MySQL </a:t>
            </a:r>
            <a:r>
              <a:rPr lang="en-GB" altLang="en-US" b="1" u="sng" dirty="0" smtClean="0">
                <a:solidFill>
                  <a:srgbClr val="000099"/>
                </a:solidFill>
              </a:rPr>
              <a:t>server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90601"/>
            <a:ext cx="8382000" cy="5715000"/>
          </a:xfrm>
        </p:spPr>
        <p:txBody>
          <a:bodyPr>
            <a:normAutofit/>
          </a:bodyPr>
          <a:lstStyle/>
          <a:p>
            <a:r>
              <a:rPr lang="en-US" sz="2400" dirty="0"/>
              <a:t>Before interacting with a database </a:t>
            </a:r>
            <a:r>
              <a:rPr lang="en-US" sz="2400" dirty="0" smtClean="0"/>
              <a:t>, </a:t>
            </a:r>
            <a:r>
              <a:rPr lang="en-US" sz="2400" dirty="0"/>
              <a:t>you need to establish a server </a:t>
            </a:r>
            <a:r>
              <a:rPr lang="en-US" sz="2400" dirty="0">
                <a:solidFill>
                  <a:srgbClr val="00B050"/>
                </a:solidFill>
              </a:rPr>
              <a:t>connection </a:t>
            </a:r>
            <a:r>
              <a:rPr lang="en-US" sz="2400" dirty="0" smtClean="0"/>
              <a:t>and </a:t>
            </a:r>
            <a:r>
              <a:rPr lang="en-US" sz="2400" dirty="0" smtClean="0">
                <a:solidFill>
                  <a:srgbClr val="00B050"/>
                </a:solidFill>
              </a:rPr>
              <a:t>select</a:t>
            </a:r>
            <a:r>
              <a:rPr lang="en-US" sz="2400" dirty="0" smtClean="0"/>
              <a:t> </a:t>
            </a:r>
            <a:r>
              <a:rPr lang="en-US" sz="2400" dirty="0"/>
              <a:t>a database. </a:t>
            </a: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    This will be  done by </a:t>
            </a:r>
            <a:r>
              <a:rPr lang="en-US" sz="2400" dirty="0"/>
              <a:t>PDO’s </a:t>
            </a:r>
            <a:r>
              <a:rPr lang="en-US" sz="2400" dirty="0">
                <a:solidFill>
                  <a:srgbClr val="FF0000"/>
                </a:solidFill>
              </a:rPr>
              <a:t>constructor</a:t>
            </a:r>
            <a:r>
              <a:rPr lang="en-US" sz="2400" dirty="0"/>
              <a:t>. </a:t>
            </a:r>
            <a:endParaRPr lang="en-US" sz="2400" dirty="0" smtClean="0"/>
          </a:p>
          <a:p>
            <a:r>
              <a:rPr lang="en-US" sz="2400" dirty="0" smtClean="0"/>
              <a:t>Its </a:t>
            </a:r>
            <a:r>
              <a:rPr lang="en-US" sz="2400" dirty="0"/>
              <a:t>prototype follows:</a:t>
            </a:r>
            <a:endParaRPr lang="en-US" sz="2400" dirty="0" smtClean="0"/>
          </a:p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PDO</a:t>
            </a:r>
            <a:r>
              <a:rPr lang="en-US" sz="2000" dirty="0" smtClean="0">
                <a:solidFill>
                  <a:schemeClr val="tx2"/>
                </a:solidFill>
              </a:rPr>
              <a:t> </a:t>
            </a:r>
            <a:r>
              <a:rPr lang="en-US" sz="2000" b="1" dirty="0">
                <a:solidFill>
                  <a:srgbClr val="0070C0"/>
                </a:solidFill>
              </a:rPr>
              <a:t>PDO</a:t>
            </a:r>
            <a:r>
              <a:rPr lang="en-US" sz="2000" dirty="0">
                <a:solidFill>
                  <a:srgbClr val="FF0000"/>
                </a:solidFill>
              </a:rPr>
              <a:t>::__construct</a:t>
            </a:r>
            <a:r>
              <a:rPr lang="en-US" sz="2000" dirty="0"/>
              <a:t>(string </a:t>
            </a:r>
            <a:r>
              <a:rPr lang="en-US" sz="2000" i="1" dirty="0">
                <a:solidFill>
                  <a:srgbClr val="0070C0"/>
                </a:solidFill>
              </a:rPr>
              <a:t>DSN</a:t>
            </a:r>
            <a:r>
              <a:rPr lang="en-US" sz="2000" i="1" dirty="0"/>
              <a:t> </a:t>
            </a:r>
            <a:r>
              <a:rPr lang="en-US" sz="2000" dirty="0"/>
              <a:t>[, string </a:t>
            </a:r>
            <a:r>
              <a:rPr lang="en-US" sz="2000" i="1" dirty="0">
                <a:solidFill>
                  <a:srgbClr val="0070C0"/>
                </a:solidFill>
              </a:rPr>
              <a:t>username</a:t>
            </a:r>
            <a:r>
              <a:rPr lang="en-US" sz="2000" i="1" dirty="0"/>
              <a:t> </a:t>
            </a:r>
            <a:r>
              <a:rPr lang="en-US" sz="2000" dirty="0"/>
              <a:t>[, string </a:t>
            </a:r>
            <a:r>
              <a:rPr lang="en-US" sz="2000" i="1" dirty="0" smtClean="0">
                <a:solidFill>
                  <a:srgbClr val="0070C0"/>
                </a:solidFill>
              </a:rPr>
              <a:t>password</a:t>
            </a:r>
            <a:r>
              <a:rPr lang="en-US" sz="2000" dirty="0" smtClean="0"/>
              <a:t>[, </a:t>
            </a:r>
            <a:r>
              <a:rPr lang="en-US" sz="2000" dirty="0"/>
              <a:t>array </a:t>
            </a:r>
            <a:r>
              <a:rPr lang="en-US" sz="2000" i="1" dirty="0" err="1"/>
              <a:t>driver_opts</a:t>
            </a:r>
            <a:r>
              <a:rPr lang="en-US" sz="2000" dirty="0" smtClean="0"/>
              <a:t>]]])</a:t>
            </a:r>
          </a:p>
          <a:p>
            <a:r>
              <a:rPr lang="en-US" sz="2000" dirty="0"/>
              <a:t>The </a:t>
            </a:r>
            <a:r>
              <a:rPr lang="en-US" sz="2000" dirty="0">
                <a:solidFill>
                  <a:srgbClr val="00B050"/>
                </a:solidFill>
              </a:rPr>
              <a:t>Data Source Name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0070C0"/>
                </a:solidFill>
              </a:rPr>
              <a:t>DSN</a:t>
            </a:r>
            <a:r>
              <a:rPr lang="en-US" sz="2000" dirty="0"/>
              <a:t>) parameter </a:t>
            </a:r>
            <a:r>
              <a:rPr lang="en-US" sz="2000" dirty="0" smtClean="0"/>
              <a:t>has 2 </a:t>
            </a:r>
            <a:r>
              <a:rPr lang="en-US" sz="2000" dirty="0"/>
              <a:t>items: the </a:t>
            </a:r>
            <a:r>
              <a:rPr lang="en-US" sz="2000" dirty="0" smtClean="0"/>
              <a:t>database </a:t>
            </a:r>
            <a:r>
              <a:rPr lang="en-US" sz="2000" dirty="0">
                <a:solidFill>
                  <a:srgbClr val="FF0000"/>
                </a:solidFill>
              </a:rPr>
              <a:t>driver</a:t>
            </a:r>
          </a:p>
          <a:p>
            <a:r>
              <a:rPr lang="en-US" sz="2000" dirty="0">
                <a:solidFill>
                  <a:srgbClr val="FF0000"/>
                </a:solidFill>
              </a:rPr>
              <a:t>name</a:t>
            </a:r>
            <a:r>
              <a:rPr lang="en-US" sz="2000" dirty="0"/>
              <a:t>, and </a:t>
            </a:r>
            <a:r>
              <a:rPr lang="en-US" sz="2000" b="1" i="1" u="sng" dirty="0"/>
              <a:t>any</a:t>
            </a:r>
            <a:r>
              <a:rPr lang="en-US" sz="2000" dirty="0"/>
              <a:t> necessary </a:t>
            </a:r>
            <a:r>
              <a:rPr lang="en-US" sz="2000" dirty="0">
                <a:solidFill>
                  <a:srgbClr val="FF0000"/>
                </a:solidFill>
              </a:rPr>
              <a:t>database</a:t>
            </a:r>
            <a:r>
              <a:rPr lang="en-US" sz="2000" dirty="0"/>
              <a:t> connection </a:t>
            </a:r>
            <a:r>
              <a:rPr lang="en-US" sz="2000" dirty="0">
                <a:solidFill>
                  <a:srgbClr val="FF0000"/>
                </a:solidFill>
              </a:rPr>
              <a:t>variables</a:t>
            </a:r>
            <a:r>
              <a:rPr lang="en-US" sz="2000" dirty="0"/>
              <a:t> </a:t>
            </a:r>
            <a:r>
              <a:rPr lang="en-US" sz="2000" i="1" dirty="0"/>
              <a:t>such</a:t>
            </a:r>
            <a:r>
              <a:rPr lang="en-US" sz="2000" dirty="0"/>
              <a:t> as the </a:t>
            </a:r>
            <a:r>
              <a:rPr lang="en-US" sz="2000" dirty="0">
                <a:solidFill>
                  <a:srgbClr val="0070C0"/>
                </a:solidFill>
              </a:rPr>
              <a:t>hostname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70C0"/>
                </a:solidFill>
              </a:rPr>
              <a:t>port</a:t>
            </a:r>
            <a:r>
              <a:rPr lang="en-US" sz="2000" dirty="0"/>
              <a:t>, and </a:t>
            </a:r>
            <a:r>
              <a:rPr lang="en-US" sz="2000" dirty="0" err="1" smtClean="0">
                <a:solidFill>
                  <a:srgbClr val="0070C0"/>
                </a:solidFill>
              </a:rPr>
              <a:t>databasename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smtClean="0"/>
              <a:t>The </a:t>
            </a:r>
            <a:r>
              <a:rPr lang="en-US" sz="2000" dirty="0">
                <a:solidFill>
                  <a:srgbClr val="00B050"/>
                </a:solidFill>
              </a:rPr>
              <a:t>username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00B050"/>
                </a:solidFill>
              </a:rPr>
              <a:t>password</a:t>
            </a:r>
            <a:r>
              <a:rPr lang="en-US" sz="2000" dirty="0"/>
              <a:t> parameters specify the </a:t>
            </a:r>
            <a:r>
              <a:rPr lang="en-US" sz="2000" dirty="0">
                <a:solidFill>
                  <a:srgbClr val="FF0000"/>
                </a:solidFill>
              </a:rPr>
              <a:t>username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0000"/>
                </a:solidFill>
              </a:rPr>
              <a:t>password </a:t>
            </a:r>
            <a:r>
              <a:rPr lang="en-US" sz="2000" dirty="0"/>
              <a:t>used </a:t>
            </a:r>
            <a:r>
              <a:rPr lang="en-US" sz="2000" dirty="0" smtClean="0"/>
              <a:t>to </a:t>
            </a:r>
            <a:r>
              <a:rPr lang="en-US" sz="2000" i="1" dirty="0" smtClean="0">
                <a:solidFill>
                  <a:srgbClr val="FFC000"/>
                </a:solidFill>
              </a:rPr>
              <a:t>connect</a:t>
            </a:r>
            <a:r>
              <a:rPr lang="en-US" sz="2000" dirty="0" smtClean="0">
                <a:solidFill>
                  <a:srgbClr val="FFC000"/>
                </a:solidFill>
              </a:rPr>
              <a:t> </a:t>
            </a:r>
            <a:r>
              <a:rPr lang="en-US" sz="2000" dirty="0"/>
              <a:t>to the </a:t>
            </a:r>
            <a:r>
              <a:rPr lang="en-US" sz="2000" dirty="0" smtClean="0">
                <a:solidFill>
                  <a:srgbClr val="0070C0"/>
                </a:solidFill>
              </a:rPr>
              <a:t>database</a:t>
            </a:r>
          </a:p>
          <a:p>
            <a:r>
              <a:rPr lang="en-US" sz="2000" dirty="0" smtClean="0"/>
              <a:t>the </a:t>
            </a:r>
            <a:r>
              <a:rPr lang="en-US" sz="2000" dirty="0" err="1">
                <a:solidFill>
                  <a:srgbClr val="0070C0"/>
                </a:solidFill>
              </a:rPr>
              <a:t>driver_opts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array specifies any </a:t>
            </a:r>
            <a:r>
              <a:rPr lang="en-US" sz="2000" dirty="0" smtClean="0">
                <a:solidFill>
                  <a:srgbClr val="FF0000"/>
                </a:solidFill>
              </a:rPr>
              <a:t>additional</a:t>
            </a:r>
            <a:r>
              <a:rPr lang="en-US" sz="2000" dirty="0" smtClean="0"/>
              <a:t> </a:t>
            </a:r>
            <a:r>
              <a:rPr lang="en-US" sz="2000" i="1" dirty="0" smtClean="0">
                <a:solidFill>
                  <a:srgbClr val="FF0000"/>
                </a:solidFill>
              </a:rPr>
              <a:t>options</a:t>
            </a:r>
            <a:r>
              <a:rPr lang="en-US" sz="2000" dirty="0" smtClean="0"/>
              <a:t> </a:t>
            </a:r>
            <a:r>
              <a:rPr lang="en-US" sz="2000" dirty="0"/>
              <a:t>that might be </a:t>
            </a:r>
            <a:r>
              <a:rPr lang="en-US" sz="2000" dirty="0">
                <a:solidFill>
                  <a:srgbClr val="FF0000"/>
                </a:solidFill>
              </a:rPr>
              <a:t>required</a:t>
            </a:r>
            <a:r>
              <a:rPr lang="en-US" sz="2000" dirty="0"/>
              <a:t> or desired for the </a:t>
            </a:r>
            <a:r>
              <a:rPr lang="en-US" sz="2000" dirty="0" smtClean="0">
                <a:solidFill>
                  <a:srgbClr val="00B050"/>
                </a:solidFill>
              </a:rPr>
              <a:t>connection</a:t>
            </a:r>
          </a:p>
          <a:p>
            <a:r>
              <a:rPr lang="en-US" sz="2000" dirty="0" smtClean="0">
                <a:hlinkClick r:id="rId2" action="ppaction://hlinkfile"/>
              </a:rPr>
              <a:t> </a:t>
            </a:r>
            <a:r>
              <a:rPr lang="en-US" sz="2000" dirty="0">
                <a:hlinkClick r:id="rId2" action="ppaction://hlinkfile"/>
              </a:rPr>
              <a:t>A list of available </a:t>
            </a:r>
            <a:r>
              <a:rPr lang="en-US" sz="2000" dirty="0" smtClean="0">
                <a:hlinkClick r:id="rId2" action="ppaction://hlinkfile"/>
              </a:rPr>
              <a:t>options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8756043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077200" cy="797168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Example (</a:t>
            </a:r>
            <a:r>
              <a:rPr lang="en-US" dirty="0" smtClean="0">
                <a:solidFill>
                  <a:srgbClr val="0070C0"/>
                </a:solidFill>
              </a:rPr>
              <a:t>PDO connection)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8534400" cy="6019800"/>
          </a:xfrm>
        </p:spPr>
        <p:txBody>
          <a:bodyPr>
            <a:no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&lt;?</a:t>
            </a:r>
            <a:r>
              <a:rPr lang="en-US" sz="2000" dirty="0" err="1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php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servername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= 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localhost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$username = </a:t>
            </a:r>
            <a:r>
              <a:rPr lang="en-US" sz="20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"username"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$password = 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"password"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 smtClean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try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{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 $conn = </a:t>
            </a:r>
            <a:r>
              <a:rPr lang="en-US" sz="2000" dirty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PDO(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mysql:host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=$</a:t>
            </a:r>
            <a:r>
              <a:rPr lang="en-US" sz="20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servername;</a:t>
            </a:r>
            <a:r>
              <a:rPr lang="en-US" sz="2000" b="1" dirty="0" err="1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dbname</a:t>
            </a:r>
            <a:r>
              <a:rPr lang="en-US" sz="2000" b="1" dirty="0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=</a:t>
            </a:r>
            <a:r>
              <a:rPr lang="en-US" sz="2000" b="1" dirty="0" err="1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myDB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, $username, $password);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 </a:t>
            </a:r>
            <a:r>
              <a:rPr lang="en-US" sz="2000" dirty="0">
                <a:solidFill>
                  <a:srgbClr val="008000"/>
                </a:solidFill>
                <a:latin typeface="Consolas"/>
                <a:ea typeface="Times New Roman"/>
                <a:cs typeface="Arial"/>
              </a:rPr>
              <a:t>// set the PDO error mode to exception</a:t>
            </a:r>
            <a:br>
              <a:rPr lang="en-US" sz="2000" dirty="0">
                <a:solidFill>
                  <a:srgbClr val="008000"/>
                </a:solidFill>
                <a:latin typeface="Consolas"/>
                <a:ea typeface="Times New Roman"/>
                <a:cs typeface="Arial"/>
              </a:rPr>
            </a:br>
            <a:r>
              <a:rPr lang="en-US" sz="19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$conn-&gt;</a:t>
            </a:r>
            <a:r>
              <a:rPr lang="en-US" sz="1900" dirty="0" err="1" smtClean="0">
                <a:solidFill>
                  <a:srgbClr val="0070C0"/>
                </a:solidFill>
                <a:latin typeface="Consolas"/>
                <a:ea typeface="Times New Roman"/>
                <a:cs typeface="Arial"/>
              </a:rPr>
              <a:t>setAttribute</a:t>
            </a:r>
            <a:r>
              <a:rPr lang="en-US" sz="19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(PDO</a:t>
            </a:r>
            <a:r>
              <a:rPr lang="en-US" sz="19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::</a:t>
            </a:r>
            <a:r>
              <a:rPr lang="en-US" sz="19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ATTR_ERRMODE,PDO</a:t>
            </a:r>
            <a:r>
              <a:rPr lang="en-US" sz="19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::ERRMODE_EXCEPTION);</a:t>
            </a:r>
            <a:br>
              <a:rPr lang="en-US" sz="19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 </a:t>
            </a:r>
            <a:r>
              <a:rPr lang="en-US" sz="2000" dirty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echo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"Connected successfully"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</a:t>
            </a:r>
            <a:r>
              <a:rPr lang="en-US" sz="2000" dirty="0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 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 }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catch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PDOException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$e)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 {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 </a:t>
            </a:r>
            <a:r>
              <a:rPr lang="en-US" sz="2000" dirty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echo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"Connection failed: "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. $e-&gt;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getMessage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();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 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}   </a:t>
            </a:r>
            <a:r>
              <a:rPr lang="en-US" sz="2000" dirty="0" smtClean="0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?&gt;</a:t>
            </a:r>
            <a:endParaRPr lang="en-US" sz="1600" dirty="0">
              <a:ea typeface="Calibri"/>
              <a:cs typeface="Arial"/>
            </a:endParaRP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4660580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077200" cy="879232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Getting and Setting Attributes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8382000" cy="5791200"/>
          </a:xfrm>
        </p:spPr>
        <p:txBody>
          <a:bodyPr>
            <a:normAutofit fontScale="92500"/>
          </a:bodyPr>
          <a:lstStyle/>
          <a:p>
            <a:r>
              <a:rPr lang="en-US" sz="3000" dirty="0">
                <a:solidFill>
                  <a:srgbClr val="FF0000"/>
                </a:solidFill>
              </a:rPr>
              <a:t>few</a:t>
            </a:r>
            <a:r>
              <a:rPr lang="en-US" sz="3000" dirty="0"/>
              <a:t> attributes are available for </a:t>
            </a:r>
            <a:r>
              <a:rPr lang="en-US" sz="3000" dirty="0" smtClean="0">
                <a:solidFill>
                  <a:srgbClr val="FF0000"/>
                </a:solidFill>
              </a:rPr>
              <a:t>change</a:t>
            </a:r>
            <a:r>
              <a:rPr lang="en-US" sz="3000" dirty="0" smtClean="0"/>
              <a:t> </a:t>
            </a:r>
            <a:r>
              <a:rPr lang="en-US" sz="3000" dirty="0"/>
              <a:t>PDO’s </a:t>
            </a:r>
            <a:r>
              <a:rPr lang="en-US" sz="3000" dirty="0" smtClean="0"/>
              <a:t>behavior</a:t>
            </a:r>
          </a:p>
          <a:p>
            <a:r>
              <a:rPr lang="en-US" sz="3000" dirty="0">
                <a:solidFill>
                  <a:srgbClr val="FF0000"/>
                </a:solidFill>
              </a:rPr>
              <a:t>Two</a:t>
            </a:r>
            <a:r>
              <a:rPr lang="en-US" sz="3000" dirty="0"/>
              <a:t> </a:t>
            </a:r>
            <a:r>
              <a:rPr lang="en-US" sz="3000" dirty="0">
                <a:solidFill>
                  <a:srgbClr val="FF0000"/>
                </a:solidFill>
              </a:rPr>
              <a:t>methods</a:t>
            </a:r>
            <a:r>
              <a:rPr lang="en-US" sz="3000" dirty="0"/>
              <a:t> are available for both </a:t>
            </a:r>
            <a:r>
              <a:rPr lang="en-US" sz="3000" dirty="0">
                <a:solidFill>
                  <a:srgbClr val="FF0000"/>
                </a:solidFill>
              </a:rPr>
              <a:t>setting</a:t>
            </a:r>
            <a:r>
              <a:rPr lang="en-US" sz="3000" dirty="0"/>
              <a:t> and </a:t>
            </a:r>
            <a:r>
              <a:rPr lang="en-US" sz="3000" dirty="0">
                <a:solidFill>
                  <a:srgbClr val="FF0000"/>
                </a:solidFill>
              </a:rPr>
              <a:t>retrieving</a:t>
            </a:r>
            <a:r>
              <a:rPr lang="en-US" sz="3000" dirty="0"/>
              <a:t> the values of these </a:t>
            </a:r>
            <a:r>
              <a:rPr lang="en-US" sz="3000" dirty="0">
                <a:solidFill>
                  <a:srgbClr val="FF0000"/>
                </a:solidFill>
              </a:rPr>
              <a:t>attributes</a:t>
            </a:r>
            <a:r>
              <a:rPr lang="en-US" sz="3000" dirty="0" smtClean="0"/>
              <a:t>.</a:t>
            </a:r>
            <a:endParaRPr lang="en-US" sz="3000" dirty="0"/>
          </a:p>
          <a:p>
            <a:pPr marL="0" indent="0">
              <a:buNone/>
            </a:pPr>
            <a:r>
              <a:rPr lang="en-US" sz="3000" u="sng" dirty="0" err="1">
                <a:solidFill>
                  <a:srgbClr val="0070C0"/>
                </a:solidFill>
              </a:rPr>
              <a:t>getAttribute</a:t>
            </a:r>
            <a:r>
              <a:rPr lang="en-US" sz="3000" u="sng" dirty="0" smtClean="0">
                <a:solidFill>
                  <a:srgbClr val="0070C0"/>
                </a:solidFill>
              </a:rPr>
              <a:t>() method:</a:t>
            </a:r>
            <a:endParaRPr lang="en-US" sz="3000" u="sng" dirty="0">
              <a:solidFill>
                <a:srgbClr val="0070C0"/>
              </a:solidFill>
            </a:endParaRPr>
          </a:p>
          <a:p>
            <a:r>
              <a:rPr lang="en-US" sz="3000" dirty="0">
                <a:solidFill>
                  <a:srgbClr val="00B050"/>
                </a:solidFill>
              </a:rPr>
              <a:t>mixed</a:t>
            </a:r>
            <a:r>
              <a:rPr lang="en-US" sz="3000" dirty="0"/>
              <a:t> </a:t>
            </a:r>
            <a:r>
              <a:rPr lang="en-US" sz="3000" dirty="0" err="1">
                <a:solidFill>
                  <a:srgbClr val="0070C0"/>
                </a:solidFill>
              </a:rPr>
              <a:t>PDOStatement</a:t>
            </a:r>
            <a:r>
              <a:rPr lang="en-US" sz="3000" dirty="0">
                <a:solidFill>
                  <a:srgbClr val="FF0000"/>
                </a:solidFill>
              </a:rPr>
              <a:t>::</a:t>
            </a:r>
            <a:r>
              <a:rPr lang="en-US" sz="3000" dirty="0" err="1">
                <a:solidFill>
                  <a:srgbClr val="0070C0"/>
                </a:solidFill>
              </a:rPr>
              <a:t>getAttribute</a:t>
            </a:r>
            <a:r>
              <a:rPr lang="en-US" sz="3000" dirty="0">
                <a:solidFill>
                  <a:srgbClr val="0070C0"/>
                </a:solidFill>
              </a:rPr>
              <a:t> </a:t>
            </a:r>
            <a:r>
              <a:rPr lang="en-US" sz="3000" dirty="0"/>
              <a:t>(</a:t>
            </a:r>
            <a:r>
              <a:rPr lang="en-US" sz="3000" dirty="0" err="1"/>
              <a:t>int</a:t>
            </a:r>
            <a:r>
              <a:rPr lang="en-US" sz="3000" dirty="0"/>
              <a:t> </a:t>
            </a:r>
            <a:r>
              <a:rPr lang="en-US" sz="3000" i="1" dirty="0">
                <a:solidFill>
                  <a:srgbClr val="FF0000"/>
                </a:solidFill>
              </a:rPr>
              <a:t>attribute</a:t>
            </a:r>
            <a:r>
              <a:rPr lang="en-US" sz="3000" dirty="0"/>
              <a:t>)</a:t>
            </a:r>
          </a:p>
          <a:p>
            <a:r>
              <a:rPr lang="en-US" sz="3000" dirty="0" smtClean="0"/>
              <a:t>The </a:t>
            </a:r>
            <a:r>
              <a:rPr lang="en-US" sz="3000" dirty="0"/>
              <a:t>method </a:t>
            </a:r>
            <a:r>
              <a:rPr lang="en-US" sz="3000" dirty="0" smtClean="0"/>
              <a:t>retrieves the </a:t>
            </a:r>
            <a:r>
              <a:rPr lang="en-US" sz="3000" dirty="0"/>
              <a:t>value of the attribute specified by </a:t>
            </a:r>
            <a:r>
              <a:rPr lang="en-US" sz="3000" dirty="0">
                <a:solidFill>
                  <a:srgbClr val="FF0000"/>
                </a:solidFill>
              </a:rPr>
              <a:t>attribute</a:t>
            </a:r>
            <a:r>
              <a:rPr lang="en-US" sz="3000" dirty="0"/>
              <a:t>. </a:t>
            </a:r>
            <a:endParaRPr lang="en-US" sz="3000" dirty="0" smtClean="0"/>
          </a:p>
          <a:p>
            <a:r>
              <a:rPr lang="en-US" sz="3000" dirty="0" smtClean="0"/>
              <a:t> </a:t>
            </a:r>
            <a:r>
              <a:rPr lang="en-US" sz="3000" b="1" dirty="0" smtClean="0">
                <a:solidFill>
                  <a:srgbClr val="0070C0"/>
                </a:solidFill>
              </a:rPr>
              <a:t>example</a:t>
            </a:r>
            <a:r>
              <a:rPr lang="en-US" sz="3000" dirty="0" smtClean="0"/>
              <a:t>:</a:t>
            </a:r>
          </a:p>
          <a:p>
            <a:pPr marL="0" indent="0">
              <a:buNone/>
            </a:pPr>
            <a:r>
              <a:rPr lang="en-US" sz="2800" dirty="0"/>
              <a:t>$</a:t>
            </a:r>
            <a:r>
              <a:rPr lang="en-US" sz="2800" dirty="0" err="1"/>
              <a:t>dbh</a:t>
            </a:r>
            <a:r>
              <a:rPr lang="en-US" sz="2800" dirty="0"/>
              <a:t> = </a:t>
            </a:r>
            <a:r>
              <a:rPr lang="en-US" sz="2800" dirty="0">
                <a:solidFill>
                  <a:srgbClr val="0070C0"/>
                </a:solidFill>
              </a:rPr>
              <a:t>new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C00000"/>
                </a:solidFill>
              </a:rPr>
              <a:t>PDO</a:t>
            </a:r>
            <a:r>
              <a:rPr lang="en-US" sz="2800" dirty="0"/>
              <a:t>('</a:t>
            </a:r>
            <a:r>
              <a:rPr lang="en-US" sz="2800" b="1" dirty="0" err="1">
                <a:solidFill>
                  <a:srgbClr val="00B050"/>
                </a:solidFill>
              </a:rPr>
              <a:t>mysql</a:t>
            </a:r>
            <a:r>
              <a:rPr lang="en-US" sz="2800" dirty="0" err="1"/>
              <a:t>:</a:t>
            </a:r>
            <a:r>
              <a:rPr lang="en-US" sz="2800" dirty="0" err="1">
                <a:solidFill>
                  <a:srgbClr val="FF0000"/>
                </a:solidFill>
              </a:rPr>
              <a:t>dbname</a:t>
            </a:r>
            <a:r>
              <a:rPr lang="en-US" sz="2800" dirty="0"/>
              <a:t>=</a:t>
            </a:r>
            <a:r>
              <a:rPr lang="en-US" sz="2800" dirty="0" err="1"/>
              <a:t>corporate;</a:t>
            </a:r>
            <a:r>
              <a:rPr lang="en-US" sz="2800" dirty="0" err="1">
                <a:solidFill>
                  <a:srgbClr val="FF0000"/>
                </a:solidFill>
              </a:rPr>
              <a:t>host</a:t>
            </a:r>
            <a:r>
              <a:rPr lang="en-US" sz="2800" dirty="0"/>
              <a:t>=</a:t>
            </a:r>
            <a:r>
              <a:rPr lang="en-US" sz="2800" dirty="0" err="1"/>
              <a:t>localhost</a:t>
            </a:r>
            <a:r>
              <a:rPr lang="en-US" sz="2800" dirty="0"/>
              <a:t>', 'root', '</a:t>
            </a:r>
            <a:r>
              <a:rPr lang="en-US" sz="2800" dirty="0" err="1"/>
              <a:t>jason</a:t>
            </a:r>
            <a:r>
              <a:rPr lang="en-US" sz="2800" dirty="0"/>
              <a:t>');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070C0"/>
                </a:solidFill>
              </a:rPr>
              <a:t>echo</a:t>
            </a:r>
            <a:r>
              <a:rPr lang="en-US" sz="2800" dirty="0"/>
              <a:t> $</a:t>
            </a:r>
            <a:r>
              <a:rPr lang="en-US" sz="2800" dirty="0" err="1"/>
              <a:t>dbh</a:t>
            </a:r>
            <a:r>
              <a:rPr lang="en-US" sz="2800" dirty="0"/>
              <a:t>-&gt;</a:t>
            </a:r>
            <a:r>
              <a:rPr lang="en-US" sz="2600" b="1" dirty="0" err="1">
                <a:solidFill>
                  <a:srgbClr val="0070C0"/>
                </a:solidFill>
              </a:rPr>
              <a:t>getAttribute</a:t>
            </a:r>
            <a:r>
              <a:rPr lang="en-US" sz="2800" dirty="0"/>
              <a:t>(</a:t>
            </a:r>
            <a:r>
              <a:rPr lang="en-US" sz="2800" dirty="0">
                <a:solidFill>
                  <a:srgbClr val="FF0000"/>
                </a:solidFill>
              </a:rPr>
              <a:t>PDO_ATTR_CONNECTION_STATUS</a:t>
            </a:r>
            <a:r>
              <a:rPr lang="en-US" sz="2800" dirty="0"/>
              <a:t>);</a:t>
            </a:r>
          </a:p>
          <a:p>
            <a:r>
              <a:rPr lang="en-US" sz="2800" dirty="0" smtClean="0"/>
              <a:t> </a:t>
            </a:r>
            <a:r>
              <a:rPr lang="en-US" sz="2800" b="1" u="sng" dirty="0"/>
              <a:t>the </a:t>
            </a:r>
            <a:r>
              <a:rPr lang="en-US" sz="2800" b="1" u="sng" dirty="0" smtClean="0"/>
              <a:t>result:</a:t>
            </a:r>
            <a:r>
              <a:rPr lang="en-US" sz="2800" dirty="0" smtClean="0"/>
              <a:t>           </a:t>
            </a:r>
            <a:r>
              <a:rPr lang="en-US" sz="2800" dirty="0" err="1" smtClean="0"/>
              <a:t>localhost</a:t>
            </a:r>
            <a:r>
              <a:rPr lang="en-US" sz="2800" dirty="0" smtClean="0"/>
              <a:t> </a:t>
            </a:r>
            <a:r>
              <a:rPr lang="en-US" sz="2800" dirty="0"/>
              <a:t>via TCP/IP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55046836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077200" cy="76200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Getting and Setting Attributes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38200"/>
            <a:ext cx="8382000" cy="5791200"/>
          </a:xfrm>
        </p:spPr>
        <p:txBody>
          <a:bodyPr>
            <a:normAutofit/>
          </a:bodyPr>
          <a:lstStyle/>
          <a:p>
            <a:r>
              <a:rPr lang="en-US" sz="3000" b="1" u="sng" dirty="0" err="1" smtClean="0">
                <a:solidFill>
                  <a:srgbClr val="0070C0"/>
                </a:solidFill>
              </a:rPr>
              <a:t>setAttribute</a:t>
            </a:r>
            <a:r>
              <a:rPr lang="en-US" sz="3000" u="sng" dirty="0">
                <a:solidFill>
                  <a:srgbClr val="0070C0"/>
                </a:solidFill>
              </a:rPr>
              <a:t>()</a:t>
            </a:r>
          </a:p>
          <a:p>
            <a:r>
              <a:rPr lang="en-US" sz="3000" dirty="0" smtClean="0">
                <a:solidFill>
                  <a:srgbClr val="00B050"/>
                </a:solidFill>
              </a:rPr>
              <a:t>Boolean </a:t>
            </a:r>
            <a:r>
              <a:rPr lang="en-US" sz="3000" dirty="0" err="1" smtClean="0">
                <a:solidFill>
                  <a:srgbClr val="0070C0"/>
                </a:solidFill>
              </a:rPr>
              <a:t>PDOStatement</a:t>
            </a:r>
            <a:r>
              <a:rPr lang="en-US" sz="3000" dirty="0" smtClean="0">
                <a:solidFill>
                  <a:srgbClr val="FF0000"/>
                </a:solidFill>
              </a:rPr>
              <a:t>::</a:t>
            </a:r>
            <a:r>
              <a:rPr lang="en-US" sz="3000" dirty="0" err="1">
                <a:solidFill>
                  <a:srgbClr val="0070C0"/>
                </a:solidFill>
              </a:rPr>
              <a:t>s</a:t>
            </a:r>
            <a:r>
              <a:rPr lang="en-US" sz="3000" dirty="0" err="1" smtClean="0">
                <a:solidFill>
                  <a:srgbClr val="0070C0"/>
                </a:solidFill>
              </a:rPr>
              <a:t>etAttribute</a:t>
            </a:r>
            <a:r>
              <a:rPr lang="en-US" sz="3000" dirty="0" smtClean="0">
                <a:solidFill>
                  <a:srgbClr val="0070C0"/>
                </a:solidFill>
              </a:rPr>
              <a:t> </a:t>
            </a:r>
            <a:r>
              <a:rPr lang="en-US" sz="3000" dirty="0"/>
              <a:t>(</a:t>
            </a:r>
            <a:r>
              <a:rPr lang="en-US" sz="3000" dirty="0" err="1"/>
              <a:t>int</a:t>
            </a:r>
            <a:r>
              <a:rPr lang="en-US" sz="3000" dirty="0"/>
              <a:t> </a:t>
            </a:r>
            <a:r>
              <a:rPr lang="en-US" sz="3000" i="1" dirty="0" smtClean="0">
                <a:solidFill>
                  <a:srgbClr val="FF0000"/>
                </a:solidFill>
              </a:rPr>
              <a:t>attribute</a:t>
            </a:r>
            <a:r>
              <a:rPr lang="en-US" sz="3000" i="1" dirty="0" smtClean="0"/>
              <a:t>,</a:t>
            </a:r>
            <a:r>
              <a:rPr lang="en-US" sz="3000" i="1" dirty="0" smtClean="0">
                <a:solidFill>
                  <a:srgbClr val="FF0000"/>
                </a:solidFill>
              </a:rPr>
              <a:t> </a:t>
            </a:r>
            <a:r>
              <a:rPr lang="en-US" sz="3000" i="1" dirty="0" smtClean="0"/>
              <a:t>mixed</a:t>
            </a:r>
            <a:r>
              <a:rPr lang="en-US" sz="3000" i="1" dirty="0" smtClean="0">
                <a:solidFill>
                  <a:srgbClr val="FF0000"/>
                </a:solidFill>
              </a:rPr>
              <a:t> value</a:t>
            </a:r>
            <a:r>
              <a:rPr lang="en-US" sz="3000" dirty="0" smtClean="0"/>
              <a:t>)</a:t>
            </a:r>
          </a:p>
          <a:p>
            <a:r>
              <a:rPr lang="en-US" sz="3000" dirty="0" smtClean="0"/>
              <a:t>      The </a:t>
            </a:r>
            <a:r>
              <a:rPr lang="en-US" sz="3000" dirty="0"/>
              <a:t>method assigns</a:t>
            </a:r>
            <a:r>
              <a:rPr lang="en-US" sz="2400" dirty="0"/>
              <a:t> </a:t>
            </a:r>
            <a:r>
              <a:rPr lang="en-US" sz="3000" dirty="0" smtClean="0"/>
              <a:t>the </a:t>
            </a:r>
            <a:r>
              <a:rPr lang="en-US" sz="3000" dirty="0"/>
              <a:t>value </a:t>
            </a:r>
            <a:r>
              <a:rPr lang="en-US" sz="3000" dirty="0" smtClean="0"/>
              <a:t>specified</a:t>
            </a:r>
            <a:r>
              <a:rPr lang="en-US" sz="2400" dirty="0" smtClean="0"/>
              <a:t> </a:t>
            </a:r>
            <a:r>
              <a:rPr lang="en-US" sz="3100" dirty="0"/>
              <a:t>by</a:t>
            </a:r>
            <a:r>
              <a:rPr lang="en-US" sz="3000" dirty="0" smtClean="0"/>
              <a:t> </a:t>
            </a:r>
            <a:r>
              <a:rPr lang="en-US" sz="3000" dirty="0"/>
              <a:t>value </a:t>
            </a:r>
            <a:r>
              <a:rPr lang="en-US" sz="3000" dirty="0" smtClean="0"/>
              <a:t>to the </a:t>
            </a:r>
            <a:r>
              <a:rPr lang="en-US" sz="3000" dirty="0" smtClean="0">
                <a:solidFill>
                  <a:srgbClr val="FF0000"/>
                </a:solidFill>
              </a:rPr>
              <a:t>attribute</a:t>
            </a:r>
            <a:r>
              <a:rPr lang="en-US" sz="3000" dirty="0" smtClean="0"/>
              <a:t> specified by </a:t>
            </a:r>
            <a:r>
              <a:rPr lang="en-US" sz="3000" dirty="0">
                <a:solidFill>
                  <a:srgbClr val="FF0000"/>
                </a:solidFill>
              </a:rPr>
              <a:t>attribute</a:t>
            </a:r>
            <a:r>
              <a:rPr lang="en-US" sz="3000" dirty="0"/>
              <a:t> </a:t>
            </a:r>
            <a:r>
              <a:rPr lang="en-US" sz="3000" dirty="0" smtClean="0"/>
              <a:t>. </a:t>
            </a:r>
          </a:p>
          <a:p>
            <a:pPr marL="0" indent="0">
              <a:buNone/>
            </a:pPr>
            <a:r>
              <a:rPr lang="en-US" sz="3000" u="sng" dirty="0" smtClean="0"/>
              <a:t> </a:t>
            </a:r>
            <a:r>
              <a:rPr lang="en-US" sz="3000" b="1" u="sng" dirty="0" smtClean="0">
                <a:solidFill>
                  <a:srgbClr val="0070C0"/>
                </a:solidFill>
              </a:rPr>
              <a:t>example</a:t>
            </a:r>
            <a:r>
              <a:rPr lang="en-US" sz="3000" u="sng" dirty="0" smtClean="0"/>
              <a:t>:</a:t>
            </a:r>
            <a:r>
              <a:rPr lang="en-US" sz="3000" dirty="0" smtClean="0"/>
              <a:t> </a:t>
            </a:r>
            <a:r>
              <a:rPr lang="en-US" sz="2800" dirty="0"/>
              <a:t>to set PDO’s error mode, you’d need to set </a:t>
            </a:r>
            <a:endParaRPr lang="en-US" sz="2800" dirty="0" smtClean="0"/>
          </a:p>
          <a:p>
            <a:pPr marL="0" indent="0">
              <a:buNone/>
            </a:pP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                    PDO_ATTR_ERRMODE</a:t>
            </a:r>
            <a:r>
              <a:rPr lang="en-US" sz="2800" dirty="0" smtClean="0"/>
              <a:t> </a:t>
            </a:r>
            <a:r>
              <a:rPr lang="en-US" sz="2800" dirty="0"/>
              <a:t>like so:</a:t>
            </a:r>
            <a:endParaRPr lang="en-US" sz="3000" dirty="0" smtClean="0"/>
          </a:p>
          <a:p>
            <a:pPr marL="0" indent="0">
              <a:buNone/>
            </a:pPr>
            <a:r>
              <a:rPr lang="en-US" sz="2800" dirty="0"/>
              <a:t>$</a:t>
            </a:r>
            <a:r>
              <a:rPr lang="en-US" sz="2800" dirty="0" err="1"/>
              <a:t>dbh</a:t>
            </a:r>
            <a:r>
              <a:rPr lang="en-US" sz="2800" dirty="0"/>
              <a:t> = </a:t>
            </a:r>
            <a:r>
              <a:rPr lang="en-US" sz="2800" dirty="0">
                <a:solidFill>
                  <a:srgbClr val="0070C0"/>
                </a:solidFill>
              </a:rPr>
              <a:t>new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C00000"/>
                </a:solidFill>
              </a:rPr>
              <a:t>PDO</a:t>
            </a:r>
            <a:r>
              <a:rPr lang="en-US" sz="2800" dirty="0"/>
              <a:t>('</a:t>
            </a:r>
            <a:r>
              <a:rPr lang="en-US" sz="2800" b="1" dirty="0" err="1">
                <a:solidFill>
                  <a:srgbClr val="00B050"/>
                </a:solidFill>
              </a:rPr>
              <a:t>mysql</a:t>
            </a:r>
            <a:r>
              <a:rPr lang="en-US" sz="2800" dirty="0" err="1"/>
              <a:t>:</a:t>
            </a:r>
            <a:r>
              <a:rPr lang="en-US" sz="2800" dirty="0" err="1">
                <a:solidFill>
                  <a:srgbClr val="FF0000"/>
                </a:solidFill>
              </a:rPr>
              <a:t>dbname</a:t>
            </a:r>
            <a:r>
              <a:rPr lang="en-US" sz="2800" dirty="0"/>
              <a:t>=</a:t>
            </a:r>
            <a:r>
              <a:rPr lang="en-US" sz="2800" dirty="0" err="1"/>
              <a:t>corporate;</a:t>
            </a:r>
            <a:r>
              <a:rPr lang="en-US" sz="2800" dirty="0" err="1">
                <a:solidFill>
                  <a:srgbClr val="FF0000"/>
                </a:solidFill>
              </a:rPr>
              <a:t>host</a:t>
            </a:r>
            <a:r>
              <a:rPr lang="en-US" sz="2800" dirty="0"/>
              <a:t>=</a:t>
            </a:r>
            <a:r>
              <a:rPr lang="en-US" sz="2800" dirty="0" err="1"/>
              <a:t>localhost</a:t>
            </a:r>
            <a:r>
              <a:rPr lang="en-US" sz="2800" dirty="0"/>
              <a:t>', 'root', '</a:t>
            </a:r>
            <a:r>
              <a:rPr lang="en-US" sz="2800" dirty="0" err="1"/>
              <a:t>jason</a:t>
            </a:r>
            <a:r>
              <a:rPr lang="en-US" sz="2800" dirty="0"/>
              <a:t>');</a:t>
            </a:r>
          </a:p>
          <a:p>
            <a:pPr marL="0" indent="0">
              <a:buNone/>
            </a:pPr>
            <a:r>
              <a:rPr lang="en-US" sz="2800" dirty="0" smtClean="0"/>
              <a:t> </a:t>
            </a:r>
            <a:r>
              <a:rPr lang="en-US" sz="2100" dirty="0"/>
              <a:t>$</a:t>
            </a:r>
            <a:r>
              <a:rPr lang="en-US" sz="2100" dirty="0" err="1"/>
              <a:t>dbh</a:t>
            </a:r>
            <a:r>
              <a:rPr lang="en-US" sz="2100" dirty="0"/>
              <a:t>-</a:t>
            </a:r>
            <a:r>
              <a:rPr lang="en-US" sz="2100" dirty="0" smtClean="0"/>
              <a:t>&gt;</a:t>
            </a:r>
            <a:r>
              <a:rPr lang="en-US" sz="2100" dirty="0" err="1" smtClean="0">
                <a:solidFill>
                  <a:srgbClr val="0070C0"/>
                </a:solidFill>
              </a:rPr>
              <a:t>setAttribute</a:t>
            </a:r>
            <a:r>
              <a:rPr lang="en-US" sz="2100" dirty="0" smtClean="0"/>
              <a:t>(</a:t>
            </a:r>
            <a:r>
              <a:rPr lang="en-US" sz="2100" dirty="0" smtClean="0">
                <a:solidFill>
                  <a:srgbClr val="FF0000"/>
                </a:solidFill>
              </a:rPr>
              <a:t>PDO_ATTR_ERRMODE </a:t>
            </a:r>
            <a:r>
              <a:rPr lang="en-US" sz="2100" dirty="0" smtClean="0"/>
              <a:t>,</a:t>
            </a:r>
            <a:r>
              <a:rPr lang="en-US" sz="2100" dirty="0" smtClean="0">
                <a:solidFill>
                  <a:srgbClr val="FF0000"/>
                </a:solidFill>
              </a:rPr>
              <a:t> PDO_ERRMODE_EXCEPTION</a:t>
            </a:r>
            <a:r>
              <a:rPr lang="en-US" sz="2100" dirty="0" smtClean="0"/>
              <a:t>);</a:t>
            </a:r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21166761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077200" cy="7620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38200"/>
            <a:ext cx="8534400" cy="57912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 smtClean="0"/>
              <a:t>PDO </a:t>
            </a:r>
            <a:r>
              <a:rPr lang="en-US" sz="2800" dirty="0"/>
              <a:t>offers </a:t>
            </a:r>
            <a:r>
              <a:rPr lang="en-US" sz="2800" dirty="0">
                <a:solidFill>
                  <a:srgbClr val="7030A0"/>
                </a:solidFill>
              </a:rPr>
              <a:t>three</a:t>
            </a:r>
            <a:r>
              <a:rPr lang="en-US" sz="2800" dirty="0"/>
              <a:t> error </a:t>
            </a:r>
            <a:r>
              <a:rPr lang="en-US" sz="2800" dirty="0">
                <a:solidFill>
                  <a:srgbClr val="7030A0"/>
                </a:solidFill>
              </a:rPr>
              <a:t>modes</a:t>
            </a:r>
            <a:r>
              <a:rPr lang="en-US" sz="2800" dirty="0"/>
              <a:t>, allowing you to </a:t>
            </a:r>
            <a:r>
              <a:rPr lang="en-US" sz="2800" dirty="0" smtClean="0">
                <a:solidFill>
                  <a:srgbClr val="00B050"/>
                </a:solidFill>
              </a:rPr>
              <a:t>change</a:t>
            </a:r>
            <a:r>
              <a:rPr lang="en-US" sz="2800" dirty="0" smtClean="0"/>
              <a:t> the </a:t>
            </a:r>
            <a:r>
              <a:rPr lang="en-US" sz="2800" dirty="0"/>
              <a:t>way in which errors are </a:t>
            </a:r>
            <a:r>
              <a:rPr lang="en-US" sz="2800" dirty="0">
                <a:solidFill>
                  <a:srgbClr val="00B050"/>
                </a:solidFill>
              </a:rPr>
              <a:t>handled</a:t>
            </a:r>
            <a:r>
              <a:rPr lang="en-US" sz="2800" dirty="0"/>
              <a:t> by </a:t>
            </a:r>
            <a:r>
              <a:rPr lang="en-US" sz="2800" dirty="0" smtClean="0"/>
              <a:t>the extension</a:t>
            </a:r>
            <a:r>
              <a:rPr lang="en-US" sz="2800" dirty="0"/>
              <a:t>:</a:t>
            </a:r>
          </a:p>
          <a:p>
            <a:r>
              <a:rPr lang="en-US" sz="2800" dirty="0" smtClean="0">
                <a:solidFill>
                  <a:srgbClr val="FF0000"/>
                </a:solidFill>
              </a:rPr>
              <a:t>PDO_ERRMODE_EXCEPTION</a:t>
            </a:r>
            <a:r>
              <a:rPr lang="en-US" sz="2800" dirty="0"/>
              <a:t>: Throws an exception using the </a:t>
            </a:r>
            <a:r>
              <a:rPr lang="en-US" sz="2800" dirty="0" smtClean="0"/>
              <a:t>  </a:t>
            </a:r>
            <a:r>
              <a:rPr lang="en-US" sz="2800" dirty="0" err="1" smtClean="0">
                <a:solidFill>
                  <a:srgbClr val="0070C0"/>
                </a:solidFill>
              </a:rPr>
              <a:t>PDOException</a:t>
            </a:r>
            <a:r>
              <a:rPr lang="en-US" sz="2800" dirty="0" smtClean="0">
                <a:solidFill>
                  <a:srgbClr val="0070C0"/>
                </a:solidFill>
              </a:rPr>
              <a:t> </a:t>
            </a:r>
            <a:r>
              <a:rPr lang="en-US" sz="2800" dirty="0">
                <a:solidFill>
                  <a:srgbClr val="0070C0"/>
                </a:solidFill>
              </a:rPr>
              <a:t>class</a:t>
            </a:r>
            <a:r>
              <a:rPr lang="en-US" sz="2800" dirty="0"/>
              <a:t>, which </a:t>
            </a:r>
            <a:r>
              <a:rPr lang="en-US" sz="2800" dirty="0" smtClean="0"/>
              <a:t>will immediately </a:t>
            </a:r>
            <a:r>
              <a:rPr lang="en-US" sz="2800" dirty="0" smtClean="0">
                <a:solidFill>
                  <a:srgbClr val="00B050"/>
                </a:solidFill>
              </a:rPr>
              <a:t>stop </a:t>
            </a:r>
            <a:r>
              <a:rPr lang="en-US" sz="2800" i="1" dirty="0"/>
              <a:t>script execution</a:t>
            </a:r>
            <a:r>
              <a:rPr lang="en-US" sz="2800" dirty="0"/>
              <a:t> and </a:t>
            </a:r>
            <a:r>
              <a:rPr lang="en-US" sz="2800" dirty="0" smtClean="0"/>
              <a:t>gives </a:t>
            </a:r>
            <a:r>
              <a:rPr lang="en-US" sz="2800" dirty="0">
                <a:solidFill>
                  <a:srgbClr val="00B050"/>
                </a:solidFill>
              </a:rPr>
              <a:t>information </a:t>
            </a:r>
            <a:r>
              <a:rPr lang="en-US" sz="2800" dirty="0" smtClean="0"/>
              <a:t>about the </a:t>
            </a:r>
            <a:r>
              <a:rPr lang="en-US" sz="2800" dirty="0">
                <a:solidFill>
                  <a:srgbClr val="00B050"/>
                </a:solidFill>
              </a:rPr>
              <a:t>problem</a:t>
            </a:r>
            <a:r>
              <a:rPr lang="en-US" sz="2800" dirty="0"/>
              <a:t>.</a:t>
            </a:r>
          </a:p>
          <a:p>
            <a:r>
              <a:rPr lang="en-US" sz="2800" dirty="0" smtClean="0">
                <a:solidFill>
                  <a:srgbClr val="FF0000"/>
                </a:solidFill>
              </a:rPr>
              <a:t>PDO_ERRMODE_SILENT</a:t>
            </a:r>
            <a:r>
              <a:rPr lang="en-US" sz="2800" dirty="0"/>
              <a:t>: Does nothing if an error occurs, leaving it to the developer to </a:t>
            </a:r>
            <a:r>
              <a:rPr lang="en-US" sz="2800" dirty="0" smtClean="0"/>
              <a:t>both check </a:t>
            </a:r>
            <a:r>
              <a:rPr lang="en-US" sz="2800" dirty="0"/>
              <a:t>for errors and determine what to do with them. This is the </a:t>
            </a:r>
            <a:r>
              <a:rPr lang="en-US" sz="2800" dirty="0">
                <a:solidFill>
                  <a:srgbClr val="00B050"/>
                </a:solidFill>
              </a:rPr>
              <a:t>default setting.</a:t>
            </a:r>
          </a:p>
          <a:p>
            <a:r>
              <a:rPr lang="en-US" sz="2800" dirty="0" smtClean="0">
                <a:solidFill>
                  <a:srgbClr val="FF0000"/>
                </a:solidFill>
              </a:rPr>
              <a:t>PDO_ERRMODE_WARNING</a:t>
            </a:r>
            <a:r>
              <a:rPr lang="en-US" sz="2800" dirty="0"/>
              <a:t>: Produces a PHP </a:t>
            </a:r>
            <a:r>
              <a:rPr lang="en-US" sz="2800" dirty="0">
                <a:solidFill>
                  <a:srgbClr val="00B050"/>
                </a:solidFill>
              </a:rPr>
              <a:t>E_WARNING</a:t>
            </a:r>
            <a:r>
              <a:rPr lang="en-US" sz="2800" dirty="0"/>
              <a:t> message </a:t>
            </a:r>
            <a:r>
              <a:rPr lang="en-US" sz="2800" dirty="0">
                <a:solidFill>
                  <a:srgbClr val="00B050"/>
                </a:solidFill>
              </a:rPr>
              <a:t>if</a:t>
            </a:r>
            <a:r>
              <a:rPr lang="en-US" sz="2800" dirty="0"/>
              <a:t> an </a:t>
            </a:r>
            <a:r>
              <a:rPr lang="en-US" sz="2800" dirty="0">
                <a:solidFill>
                  <a:srgbClr val="C00000"/>
                </a:solidFill>
              </a:rPr>
              <a:t>error</a:t>
            </a:r>
            <a:r>
              <a:rPr lang="en-US" sz="2800" dirty="0"/>
              <a:t> occurs while </a:t>
            </a:r>
            <a:r>
              <a:rPr lang="en-US" sz="2800" dirty="0" smtClean="0">
                <a:solidFill>
                  <a:srgbClr val="00B050"/>
                </a:solidFill>
              </a:rPr>
              <a:t>using</a:t>
            </a:r>
            <a:r>
              <a:rPr lang="en-US" sz="2800" dirty="0" smtClean="0"/>
              <a:t> the </a:t>
            </a:r>
            <a:r>
              <a:rPr lang="en-US" sz="2800" dirty="0">
                <a:solidFill>
                  <a:srgbClr val="00B050"/>
                </a:solidFill>
              </a:rPr>
              <a:t>PDO</a:t>
            </a:r>
            <a:r>
              <a:rPr lang="en-US" sz="2800" dirty="0"/>
              <a:t> extension.</a:t>
            </a:r>
          </a:p>
          <a:p>
            <a:r>
              <a:rPr lang="en-US" sz="2800" dirty="0"/>
              <a:t>To set the error mode, just use the </a:t>
            </a:r>
            <a:r>
              <a:rPr lang="en-US" sz="2800" dirty="0" err="1"/>
              <a:t>setAttribute</a:t>
            </a:r>
            <a:r>
              <a:rPr lang="en-US" sz="2800" dirty="0"/>
              <a:t>() method, like so:</a:t>
            </a:r>
          </a:p>
          <a:p>
            <a:pPr marL="0" indent="0">
              <a:buNone/>
            </a:pPr>
            <a:r>
              <a:rPr lang="en-US" sz="2400" dirty="0"/>
              <a:t>$</a:t>
            </a:r>
            <a:r>
              <a:rPr lang="en-US" sz="2400" dirty="0" err="1"/>
              <a:t>dbh</a:t>
            </a:r>
            <a:r>
              <a:rPr lang="en-US" sz="2400" dirty="0"/>
              <a:t>-&gt;</a:t>
            </a:r>
            <a:r>
              <a:rPr lang="en-US" sz="2400" b="1" dirty="0" err="1">
                <a:solidFill>
                  <a:srgbClr val="0070C0"/>
                </a:solidFill>
              </a:rPr>
              <a:t>setAttribute</a:t>
            </a:r>
            <a:r>
              <a:rPr lang="en-US" sz="2400" dirty="0"/>
              <a:t>(PDO_ATTR_ERRMODE, PDO_ERRMODE_EXCEPTION);</a:t>
            </a:r>
          </a:p>
        </p:txBody>
      </p:sp>
    </p:spTree>
    <p:extLst>
      <p:ext uri="{BB962C8B-B14F-4D97-AF65-F5344CB8AC3E}">
        <p14:creationId xmlns:p14="http://schemas.microsoft.com/office/powerpoint/2010/main" val="111830120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Tip: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1"/>
            <a:ext cx="8458200" cy="5105400"/>
          </a:xfrm>
        </p:spPr>
        <p:txBody>
          <a:bodyPr>
            <a:normAutofit/>
          </a:bodyPr>
          <a:lstStyle/>
          <a:p>
            <a:r>
              <a:rPr lang="en-US" sz="3000" dirty="0" smtClean="0"/>
              <a:t> A great benefit of </a:t>
            </a:r>
            <a:r>
              <a:rPr lang="en-US" sz="3000" b="1" dirty="0" smtClean="0">
                <a:solidFill>
                  <a:srgbClr val="0070C0"/>
                </a:solidFill>
              </a:rPr>
              <a:t>PDO</a:t>
            </a:r>
            <a:r>
              <a:rPr lang="en-US" sz="3000" dirty="0" smtClean="0">
                <a:solidFill>
                  <a:srgbClr val="0070C0"/>
                </a:solidFill>
              </a:rPr>
              <a:t> </a:t>
            </a:r>
            <a:r>
              <a:rPr lang="en-US" sz="3000" dirty="0" smtClean="0"/>
              <a:t>is that it has an </a:t>
            </a:r>
            <a:r>
              <a:rPr lang="en-US" sz="3000" dirty="0" smtClean="0">
                <a:solidFill>
                  <a:srgbClr val="FF0000"/>
                </a:solidFill>
              </a:rPr>
              <a:t>exception class</a:t>
            </a:r>
            <a:r>
              <a:rPr lang="en-US" sz="3000" dirty="0" smtClean="0"/>
              <a:t> to </a:t>
            </a:r>
            <a:r>
              <a:rPr lang="en-US" sz="3000" b="1" i="1" dirty="0" smtClean="0">
                <a:solidFill>
                  <a:srgbClr val="00B050"/>
                </a:solidFill>
              </a:rPr>
              <a:t>handle</a:t>
            </a:r>
            <a:r>
              <a:rPr lang="en-US" sz="3000" dirty="0" smtClean="0">
                <a:solidFill>
                  <a:srgbClr val="00B050"/>
                </a:solidFill>
              </a:rPr>
              <a:t> </a:t>
            </a:r>
            <a:r>
              <a:rPr lang="en-US" sz="3000" i="1" dirty="0" smtClean="0"/>
              <a:t>any </a:t>
            </a:r>
            <a:r>
              <a:rPr lang="en-US" sz="3000" i="1" dirty="0" smtClean="0">
                <a:solidFill>
                  <a:srgbClr val="FF0000"/>
                </a:solidFill>
              </a:rPr>
              <a:t>problems</a:t>
            </a:r>
            <a:r>
              <a:rPr lang="en-US" sz="3000" i="1" dirty="0" smtClean="0"/>
              <a:t> that may occur in our</a:t>
            </a:r>
            <a:r>
              <a:rPr lang="en-US" sz="3000" dirty="0" smtClean="0"/>
              <a:t> </a:t>
            </a:r>
            <a:r>
              <a:rPr lang="en-US" sz="3000" i="1" dirty="0" smtClean="0">
                <a:solidFill>
                  <a:srgbClr val="FF0000"/>
                </a:solidFill>
              </a:rPr>
              <a:t>database</a:t>
            </a:r>
            <a:r>
              <a:rPr lang="en-US" sz="3000" dirty="0" smtClean="0">
                <a:solidFill>
                  <a:srgbClr val="FF0000"/>
                </a:solidFill>
              </a:rPr>
              <a:t> </a:t>
            </a:r>
            <a:r>
              <a:rPr lang="en-US" sz="3000" i="1" dirty="0" smtClean="0">
                <a:solidFill>
                  <a:srgbClr val="FF0000"/>
                </a:solidFill>
              </a:rPr>
              <a:t>queries</a:t>
            </a:r>
            <a:r>
              <a:rPr lang="en-US" sz="3000" dirty="0" smtClean="0"/>
              <a:t>. If an exception is </a:t>
            </a:r>
            <a:r>
              <a:rPr lang="en-US" sz="3000" i="1" dirty="0" smtClean="0">
                <a:solidFill>
                  <a:srgbClr val="00B050"/>
                </a:solidFill>
              </a:rPr>
              <a:t>thrown</a:t>
            </a:r>
            <a:r>
              <a:rPr lang="en-US" sz="3000" dirty="0" smtClean="0"/>
              <a:t> within the </a:t>
            </a:r>
            <a:r>
              <a:rPr lang="en-US" sz="3000" dirty="0" smtClean="0">
                <a:solidFill>
                  <a:srgbClr val="0070C0"/>
                </a:solidFill>
              </a:rPr>
              <a:t>try</a:t>
            </a:r>
            <a:r>
              <a:rPr lang="en-US" sz="3000" dirty="0" smtClean="0"/>
              <a:t>{ } block, the script </a:t>
            </a:r>
            <a:r>
              <a:rPr lang="en-US" sz="3000" i="1" dirty="0" smtClean="0">
                <a:solidFill>
                  <a:srgbClr val="FF0000"/>
                </a:solidFill>
              </a:rPr>
              <a:t>stops executing</a:t>
            </a:r>
            <a:r>
              <a:rPr lang="en-US" sz="3000" dirty="0" smtClean="0"/>
              <a:t> and </a:t>
            </a:r>
            <a:r>
              <a:rPr lang="en-US" sz="3000" dirty="0" smtClean="0">
                <a:solidFill>
                  <a:srgbClr val="00B050"/>
                </a:solidFill>
              </a:rPr>
              <a:t>flows</a:t>
            </a:r>
            <a:r>
              <a:rPr lang="en-US" sz="3000" dirty="0" smtClean="0"/>
              <a:t> </a:t>
            </a:r>
            <a:r>
              <a:rPr lang="en-US" sz="3000" i="1" dirty="0" smtClean="0"/>
              <a:t>directly</a:t>
            </a:r>
            <a:r>
              <a:rPr lang="en-US" sz="3000" dirty="0" smtClean="0"/>
              <a:t> to the first </a:t>
            </a:r>
            <a:r>
              <a:rPr lang="en-US" sz="3000" dirty="0" smtClean="0">
                <a:solidFill>
                  <a:srgbClr val="0070C0"/>
                </a:solidFill>
              </a:rPr>
              <a:t>catch</a:t>
            </a:r>
            <a:r>
              <a:rPr lang="en-US" sz="3000" dirty="0" smtClean="0"/>
              <a:t>(){ } block.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endParaRPr lang="en-US" sz="1600" dirty="0" smtClean="0"/>
          </a:p>
          <a:p>
            <a:r>
              <a:rPr lang="en-US" sz="3000" dirty="0"/>
              <a:t>Close the </a:t>
            </a:r>
            <a:r>
              <a:rPr lang="en-US" sz="3000" dirty="0" smtClean="0">
                <a:solidFill>
                  <a:srgbClr val="00B050"/>
                </a:solidFill>
              </a:rPr>
              <a:t>Connection</a:t>
            </a:r>
            <a:r>
              <a:rPr lang="en-US" sz="3000" dirty="0" smtClean="0"/>
              <a:t> :      </a:t>
            </a:r>
            <a:r>
              <a:rPr lang="en-US" sz="3000" dirty="0"/>
              <a:t>$conn = </a:t>
            </a:r>
            <a:r>
              <a:rPr lang="en-US" sz="3000" dirty="0">
                <a:solidFill>
                  <a:srgbClr val="0070C0"/>
                </a:solidFill>
              </a:rPr>
              <a:t>null</a:t>
            </a:r>
            <a:r>
              <a:rPr lang="en-US" sz="3000" dirty="0"/>
              <a:t>;</a:t>
            </a:r>
          </a:p>
          <a:p>
            <a:pPr marL="0" indent="0">
              <a:buNone/>
            </a:pPr>
            <a:r>
              <a:rPr lang="en-US" sz="3000" i="1" dirty="0" smtClean="0">
                <a:solidFill>
                  <a:srgbClr val="009ED6"/>
                </a:solidFill>
              </a:rPr>
              <a:t>however</a:t>
            </a:r>
            <a:r>
              <a:rPr lang="en-US" sz="3000" dirty="0" smtClean="0"/>
              <a:t>  The </a:t>
            </a:r>
            <a:r>
              <a:rPr lang="en-US" sz="3000" dirty="0"/>
              <a:t>connection will be </a:t>
            </a:r>
            <a:r>
              <a:rPr lang="en-US" sz="3000" dirty="0">
                <a:solidFill>
                  <a:srgbClr val="FF0000"/>
                </a:solidFill>
              </a:rPr>
              <a:t>closed</a:t>
            </a:r>
            <a:r>
              <a:rPr lang="en-US" sz="3000" dirty="0"/>
              <a:t> </a:t>
            </a:r>
            <a:r>
              <a:rPr lang="en-US" sz="3000" dirty="0" smtClean="0">
                <a:solidFill>
                  <a:srgbClr val="FF0000"/>
                </a:solidFill>
              </a:rPr>
              <a:t>automatically</a:t>
            </a:r>
            <a:r>
              <a:rPr lang="en-US" sz="3000" dirty="0" smtClean="0"/>
              <a:t> </a:t>
            </a:r>
            <a:r>
              <a:rPr lang="en-US" sz="3000" dirty="0"/>
              <a:t>when the </a:t>
            </a:r>
            <a:r>
              <a:rPr lang="en-US" sz="3000" dirty="0">
                <a:solidFill>
                  <a:srgbClr val="FF0000"/>
                </a:solidFill>
              </a:rPr>
              <a:t>script </a:t>
            </a:r>
            <a:r>
              <a:rPr lang="en-US" sz="3000" dirty="0" smtClean="0">
                <a:solidFill>
                  <a:srgbClr val="FF0000"/>
                </a:solidFill>
              </a:rPr>
              <a:t>ends</a:t>
            </a:r>
            <a:r>
              <a:rPr lang="en-US" sz="3000" dirty="0" smtClean="0"/>
              <a:t>. </a:t>
            </a:r>
          </a:p>
          <a:p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0784910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077200" cy="644768"/>
          </a:xfrm>
        </p:spPr>
        <p:txBody>
          <a:bodyPr>
            <a:normAutofit fontScale="90000"/>
          </a:bodyPr>
          <a:lstStyle/>
          <a:p>
            <a:pPr algn="ctr"/>
            <a:r>
              <a:rPr lang="en-GB" altLang="en-US" b="1" u="sng" dirty="0" smtClean="0">
                <a:solidFill>
                  <a:srgbClr val="000099"/>
                </a:solidFill>
              </a:rPr>
              <a:t>2.sending </a:t>
            </a:r>
            <a:r>
              <a:rPr lang="en-GB" altLang="en-US" b="1" u="sng" dirty="0" err="1" smtClean="0">
                <a:solidFill>
                  <a:srgbClr val="000099"/>
                </a:solidFill>
              </a:rPr>
              <a:t>sql</a:t>
            </a:r>
            <a:r>
              <a:rPr lang="en-GB" altLang="en-US" b="1" u="sng" dirty="0" smtClean="0">
                <a:solidFill>
                  <a:srgbClr val="000099"/>
                </a:solidFill>
              </a:rPr>
              <a:t>  query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62000"/>
            <a:ext cx="8534400" cy="6096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There are </a:t>
            </a:r>
            <a:r>
              <a:rPr lang="en-US" dirty="0" smtClean="0">
                <a:solidFill>
                  <a:srgbClr val="00B050"/>
                </a:solidFill>
              </a:rPr>
              <a:t>three </a:t>
            </a:r>
            <a:r>
              <a:rPr lang="en-US" dirty="0" smtClean="0"/>
              <a:t>different </a:t>
            </a:r>
            <a:r>
              <a:rPr lang="en-US" dirty="0" smtClean="0">
                <a:solidFill>
                  <a:srgbClr val="00B050"/>
                </a:solidFill>
              </a:rPr>
              <a:t>strategies</a:t>
            </a:r>
            <a:r>
              <a:rPr lang="en-US" dirty="0" smtClean="0"/>
              <a:t> </a:t>
            </a:r>
            <a:r>
              <a:rPr lang="en-US" dirty="0"/>
              <a:t>to take when </a:t>
            </a:r>
            <a:r>
              <a:rPr lang="en-US" dirty="0">
                <a:solidFill>
                  <a:srgbClr val="00B050"/>
                </a:solidFill>
              </a:rPr>
              <a:t>executing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queries</a:t>
            </a:r>
            <a:r>
              <a:rPr lang="en-US" dirty="0"/>
              <a:t>, and the methods you </a:t>
            </a:r>
            <a:r>
              <a:rPr lang="en-US" dirty="0" smtClean="0"/>
              <a:t>use are </a:t>
            </a:r>
            <a:r>
              <a:rPr lang="en-US" dirty="0"/>
              <a:t>dependent on your </a:t>
            </a:r>
            <a:r>
              <a:rPr lang="en-US" dirty="0" smtClean="0"/>
              <a:t>intent  . Which are: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Executing </a:t>
            </a:r>
            <a:r>
              <a:rPr lang="en-US" b="1" dirty="0">
                <a:solidFill>
                  <a:srgbClr val="0070C0"/>
                </a:solidFill>
              </a:rPr>
              <a:t>a query with no result set</a:t>
            </a:r>
            <a:r>
              <a:rPr lang="en-US" dirty="0">
                <a:solidFill>
                  <a:srgbClr val="0070C0"/>
                </a:solidFill>
              </a:rPr>
              <a:t>:</a:t>
            </a:r>
            <a:r>
              <a:rPr lang="en-US" dirty="0"/>
              <a:t> When executing queries such as </a:t>
            </a:r>
            <a:r>
              <a:rPr lang="en-US" sz="2900" b="1" dirty="0">
                <a:solidFill>
                  <a:srgbClr val="C00000"/>
                </a:solidFill>
              </a:rPr>
              <a:t>INSERT</a:t>
            </a:r>
            <a:r>
              <a:rPr lang="en-US" dirty="0"/>
              <a:t>, </a:t>
            </a:r>
            <a:r>
              <a:rPr lang="en-US" sz="2900" b="1" dirty="0">
                <a:solidFill>
                  <a:srgbClr val="C00000"/>
                </a:solidFill>
              </a:rPr>
              <a:t>UPDATE</a:t>
            </a:r>
            <a:r>
              <a:rPr lang="en-US" dirty="0" smtClean="0"/>
              <a:t>, and </a:t>
            </a:r>
            <a:r>
              <a:rPr lang="en-US" sz="2900" b="1" dirty="0">
                <a:solidFill>
                  <a:srgbClr val="C00000"/>
                </a:solidFill>
              </a:rPr>
              <a:t>DELETE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no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result</a:t>
            </a:r>
            <a:r>
              <a:rPr lang="en-US" dirty="0"/>
              <a:t> set is returned. In such cases, the </a:t>
            </a:r>
            <a:r>
              <a:rPr lang="en-US" dirty="0">
                <a:solidFill>
                  <a:srgbClr val="0070C0"/>
                </a:solidFill>
              </a:rPr>
              <a:t>exec</a:t>
            </a:r>
            <a:r>
              <a:rPr lang="en-US" dirty="0"/>
              <a:t>() method will </a:t>
            </a:r>
            <a:r>
              <a:rPr lang="en-US" dirty="0">
                <a:solidFill>
                  <a:srgbClr val="00B050"/>
                </a:solidFill>
              </a:rPr>
              <a:t>return</a:t>
            </a:r>
            <a:r>
              <a:rPr lang="en-US" dirty="0"/>
              <a:t> </a:t>
            </a:r>
            <a:r>
              <a:rPr lang="en-US" dirty="0" smtClean="0"/>
              <a:t>the </a:t>
            </a:r>
            <a:r>
              <a:rPr lang="en-US" dirty="0" smtClean="0">
                <a:solidFill>
                  <a:srgbClr val="00B050"/>
                </a:solidFill>
              </a:rPr>
              <a:t>number </a:t>
            </a:r>
            <a:r>
              <a:rPr lang="en-US" dirty="0">
                <a:solidFill>
                  <a:srgbClr val="00B050"/>
                </a:solidFill>
              </a:rPr>
              <a:t>of rows affected</a:t>
            </a:r>
            <a:r>
              <a:rPr lang="en-US" dirty="0"/>
              <a:t> by the query.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Executing </a:t>
            </a:r>
            <a:r>
              <a:rPr lang="en-US" b="1" dirty="0">
                <a:solidFill>
                  <a:srgbClr val="0070C0"/>
                </a:solidFill>
              </a:rPr>
              <a:t>a query a single time</a:t>
            </a:r>
            <a:r>
              <a:rPr lang="en-US" dirty="0">
                <a:solidFill>
                  <a:srgbClr val="0070C0"/>
                </a:solidFill>
              </a:rPr>
              <a:t>:</a:t>
            </a:r>
            <a:r>
              <a:rPr lang="en-US" dirty="0"/>
              <a:t> When </a:t>
            </a:r>
            <a:r>
              <a:rPr lang="en-US" dirty="0">
                <a:solidFill>
                  <a:srgbClr val="00B050"/>
                </a:solidFill>
              </a:rPr>
              <a:t>executing</a:t>
            </a:r>
            <a:r>
              <a:rPr lang="en-US" dirty="0"/>
              <a:t> a </a:t>
            </a:r>
            <a:r>
              <a:rPr lang="en-US" dirty="0">
                <a:solidFill>
                  <a:srgbClr val="00B050"/>
                </a:solidFill>
              </a:rPr>
              <a:t>query</a:t>
            </a:r>
            <a:r>
              <a:rPr lang="en-US" dirty="0"/>
              <a:t> </a:t>
            </a:r>
            <a:r>
              <a:rPr lang="en-US" dirty="0" smtClean="0"/>
              <a:t>that </a:t>
            </a:r>
            <a:r>
              <a:rPr lang="en-US" dirty="0" smtClean="0">
                <a:solidFill>
                  <a:srgbClr val="00B050"/>
                </a:solidFill>
              </a:rPr>
              <a:t>returns</a:t>
            </a:r>
            <a:r>
              <a:rPr lang="en-US" dirty="0" smtClean="0"/>
              <a:t> </a:t>
            </a:r>
            <a:r>
              <a:rPr lang="en-US" dirty="0"/>
              <a:t>a </a:t>
            </a:r>
            <a:r>
              <a:rPr lang="en-US" dirty="0">
                <a:solidFill>
                  <a:srgbClr val="00B050"/>
                </a:solidFill>
              </a:rPr>
              <a:t>result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set</a:t>
            </a:r>
            <a:r>
              <a:rPr lang="en-US" dirty="0"/>
              <a:t>, </a:t>
            </a:r>
            <a:r>
              <a:rPr lang="en-US" dirty="0" smtClean="0">
                <a:solidFill>
                  <a:srgbClr val="FF0000"/>
                </a:solidFill>
              </a:rPr>
              <a:t>or</a:t>
            </a:r>
            <a:r>
              <a:rPr lang="en-US" dirty="0" smtClean="0"/>
              <a:t> when </a:t>
            </a:r>
            <a:r>
              <a:rPr lang="en-US" dirty="0"/>
              <a:t>the </a:t>
            </a:r>
            <a:r>
              <a:rPr lang="en-US" dirty="0">
                <a:solidFill>
                  <a:srgbClr val="00B050"/>
                </a:solidFill>
              </a:rPr>
              <a:t>number </a:t>
            </a:r>
            <a:r>
              <a:rPr lang="en-US" dirty="0"/>
              <a:t>of </a:t>
            </a:r>
            <a:r>
              <a:rPr lang="en-US" dirty="0">
                <a:solidFill>
                  <a:srgbClr val="00B050"/>
                </a:solidFill>
              </a:rPr>
              <a:t>affected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rows </a:t>
            </a:r>
            <a:r>
              <a:rPr lang="en-US" dirty="0"/>
              <a:t>is </a:t>
            </a:r>
            <a:r>
              <a:rPr lang="en-US" dirty="0">
                <a:solidFill>
                  <a:srgbClr val="FF0000"/>
                </a:solidFill>
              </a:rPr>
              <a:t>irrelevant</a:t>
            </a:r>
            <a:r>
              <a:rPr lang="en-US" dirty="0"/>
              <a:t>, you should </a:t>
            </a:r>
            <a:r>
              <a:rPr lang="en-US" dirty="0">
                <a:solidFill>
                  <a:srgbClr val="FF0000"/>
                </a:solidFill>
              </a:rPr>
              <a:t>use</a:t>
            </a:r>
            <a:r>
              <a:rPr lang="en-US" dirty="0"/>
              <a:t> the </a:t>
            </a:r>
            <a:r>
              <a:rPr lang="en-US" dirty="0">
                <a:solidFill>
                  <a:srgbClr val="0070C0"/>
                </a:solidFill>
              </a:rPr>
              <a:t>query</a:t>
            </a:r>
            <a:r>
              <a:rPr lang="en-US" dirty="0"/>
              <a:t>() method.</a:t>
            </a:r>
          </a:p>
          <a:p>
            <a:r>
              <a:rPr lang="en-US" b="1" dirty="0" smtClean="0">
                <a:solidFill>
                  <a:srgbClr val="0070C0"/>
                </a:solidFill>
              </a:rPr>
              <a:t>Executing </a:t>
            </a:r>
            <a:r>
              <a:rPr lang="en-US" b="1" dirty="0">
                <a:solidFill>
                  <a:srgbClr val="0070C0"/>
                </a:solidFill>
              </a:rPr>
              <a:t>a query multiple times</a:t>
            </a:r>
            <a:r>
              <a:rPr lang="en-US" dirty="0">
                <a:solidFill>
                  <a:srgbClr val="0070C0"/>
                </a:solidFill>
              </a:rPr>
              <a:t>:</a:t>
            </a:r>
            <a:r>
              <a:rPr lang="en-US" dirty="0"/>
              <a:t> </a:t>
            </a:r>
            <a:r>
              <a:rPr lang="en-US" dirty="0" smtClean="0"/>
              <a:t>it’s </a:t>
            </a:r>
            <a:r>
              <a:rPr lang="en-US" dirty="0"/>
              <a:t>possible to </a:t>
            </a:r>
            <a:r>
              <a:rPr lang="en-US" dirty="0">
                <a:solidFill>
                  <a:srgbClr val="00B050"/>
                </a:solidFill>
              </a:rPr>
              <a:t>execute</a:t>
            </a:r>
            <a:r>
              <a:rPr lang="en-US" dirty="0"/>
              <a:t> a </a:t>
            </a:r>
            <a:r>
              <a:rPr lang="en-US" dirty="0">
                <a:solidFill>
                  <a:srgbClr val="00B050"/>
                </a:solidFill>
              </a:rPr>
              <a:t>query</a:t>
            </a:r>
            <a:r>
              <a:rPr lang="en-US" dirty="0"/>
              <a:t> </a:t>
            </a:r>
            <a:r>
              <a:rPr lang="en-US" dirty="0" smtClean="0">
                <a:solidFill>
                  <a:srgbClr val="FFC000"/>
                </a:solidFill>
              </a:rPr>
              <a:t>many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C000"/>
                </a:solidFill>
              </a:rPr>
              <a:t>times</a:t>
            </a:r>
            <a:r>
              <a:rPr lang="en-US" dirty="0" smtClean="0"/>
              <a:t> </a:t>
            </a:r>
            <a:r>
              <a:rPr lang="en-US" dirty="0"/>
              <a:t>using a </a:t>
            </a:r>
            <a:r>
              <a:rPr lang="en-US" dirty="0">
                <a:solidFill>
                  <a:srgbClr val="00B050"/>
                </a:solidFill>
              </a:rPr>
              <a:t>while loop</a:t>
            </a:r>
            <a:r>
              <a:rPr lang="en-US" dirty="0"/>
              <a:t> and the </a:t>
            </a:r>
            <a:r>
              <a:rPr lang="en-US" dirty="0">
                <a:solidFill>
                  <a:srgbClr val="0070C0"/>
                </a:solidFill>
              </a:rPr>
              <a:t>query</a:t>
            </a:r>
            <a:r>
              <a:rPr lang="en-US" dirty="0"/>
              <a:t>() method, </a:t>
            </a:r>
            <a:r>
              <a:rPr lang="en-US" dirty="0">
                <a:solidFill>
                  <a:srgbClr val="00B050"/>
                </a:solidFill>
              </a:rPr>
              <a:t>passing</a:t>
            </a:r>
            <a:r>
              <a:rPr lang="en-US" dirty="0"/>
              <a:t> in different column </a:t>
            </a:r>
            <a:r>
              <a:rPr lang="en-US" dirty="0">
                <a:solidFill>
                  <a:srgbClr val="00B050"/>
                </a:solidFill>
              </a:rPr>
              <a:t>values</a:t>
            </a:r>
            <a:r>
              <a:rPr lang="en-US" dirty="0"/>
              <a:t> </a:t>
            </a:r>
            <a:r>
              <a:rPr lang="en-US" dirty="0" smtClean="0"/>
              <a:t>for </a:t>
            </a:r>
            <a:r>
              <a:rPr lang="en-US" dirty="0" smtClean="0">
                <a:solidFill>
                  <a:srgbClr val="00B050"/>
                </a:solidFill>
              </a:rPr>
              <a:t>each</a:t>
            </a:r>
            <a:r>
              <a:rPr lang="en-US" dirty="0" smtClean="0"/>
              <a:t> </a:t>
            </a:r>
            <a:r>
              <a:rPr lang="en-US" dirty="0">
                <a:solidFill>
                  <a:srgbClr val="00B050"/>
                </a:solidFill>
              </a:rPr>
              <a:t>iteration</a:t>
            </a:r>
            <a:r>
              <a:rPr lang="en-US" dirty="0"/>
              <a:t>, </a:t>
            </a:r>
            <a:r>
              <a:rPr lang="en-US" i="1" dirty="0" smtClean="0">
                <a:solidFill>
                  <a:srgbClr val="FF0000"/>
                </a:solidFill>
              </a:rPr>
              <a:t>however</a:t>
            </a:r>
            <a:r>
              <a:rPr lang="en-US" dirty="0" smtClean="0"/>
              <a:t> PDO offers more </a:t>
            </a:r>
            <a:r>
              <a:rPr lang="en-US" dirty="0">
                <a:solidFill>
                  <a:srgbClr val="00B0F0"/>
                </a:solidFill>
              </a:rPr>
              <a:t>efficient </a:t>
            </a:r>
            <a:r>
              <a:rPr lang="en-US" dirty="0" smtClean="0">
                <a:solidFill>
                  <a:srgbClr val="00B0F0"/>
                </a:solidFill>
              </a:rPr>
              <a:t>way</a:t>
            </a:r>
            <a:r>
              <a:rPr lang="en-US" dirty="0" smtClean="0"/>
              <a:t> by </a:t>
            </a:r>
            <a:r>
              <a:rPr lang="en-US" dirty="0" smtClean="0">
                <a:solidFill>
                  <a:srgbClr val="00B050"/>
                </a:solidFill>
              </a:rPr>
              <a:t>using</a:t>
            </a:r>
            <a:r>
              <a:rPr lang="en-US" dirty="0" smtClean="0"/>
              <a:t> </a:t>
            </a:r>
            <a:r>
              <a:rPr lang="en-US" dirty="0"/>
              <a:t>a </a:t>
            </a:r>
            <a:r>
              <a:rPr lang="en-US" b="1" i="1" dirty="0">
                <a:solidFill>
                  <a:srgbClr val="0070C0"/>
                </a:solidFill>
              </a:rPr>
              <a:t>prepared</a:t>
            </a:r>
            <a:r>
              <a:rPr lang="en-US" i="1" dirty="0"/>
              <a:t> </a:t>
            </a:r>
            <a:r>
              <a:rPr lang="en-US" b="1" i="1" dirty="0">
                <a:solidFill>
                  <a:srgbClr val="0070C0"/>
                </a:solidFill>
              </a:rPr>
              <a:t>statement</a:t>
            </a:r>
            <a:r>
              <a:rPr lang="en-US" dirty="0"/>
              <a:t>. </a:t>
            </a:r>
          </a:p>
          <a:p>
            <a:pPr lvl="1"/>
            <a:r>
              <a:rPr lang="en-US" i="1" dirty="0" smtClean="0"/>
              <a:t>When</a:t>
            </a:r>
            <a:r>
              <a:rPr lang="en-US" dirty="0" smtClean="0"/>
              <a:t> using the </a:t>
            </a:r>
            <a:r>
              <a:rPr lang="en-US" dirty="0" smtClean="0">
                <a:solidFill>
                  <a:srgbClr val="0070C0"/>
                </a:solidFill>
              </a:rPr>
              <a:t>prepared</a:t>
            </a:r>
            <a:r>
              <a:rPr lang="en-US" dirty="0" smtClean="0"/>
              <a:t> statements:  it’s </a:t>
            </a:r>
            <a:r>
              <a:rPr lang="en-US" dirty="0" smtClean="0">
                <a:solidFill>
                  <a:srgbClr val="00B050"/>
                </a:solidFill>
              </a:rPr>
              <a:t>requires</a:t>
            </a:r>
            <a:r>
              <a:rPr lang="en-US" dirty="0" smtClean="0"/>
              <a:t>  </a:t>
            </a:r>
            <a:r>
              <a:rPr lang="en-US" dirty="0" smtClean="0">
                <a:solidFill>
                  <a:srgbClr val="FF0000"/>
                </a:solidFill>
              </a:rPr>
              <a:t>two methods</a:t>
            </a:r>
            <a:r>
              <a:rPr lang="en-US" dirty="0">
                <a:solidFill>
                  <a:srgbClr val="FF0000"/>
                </a:solidFill>
              </a:rPr>
              <a:t>: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70C0"/>
                </a:solidFill>
              </a:rPr>
              <a:t>prepare</a:t>
            </a:r>
            <a:r>
              <a:rPr lang="en-US" dirty="0"/>
              <a:t>() and </a:t>
            </a:r>
            <a:r>
              <a:rPr lang="en-US" dirty="0">
                <a:solidFill>
                  <a:srgbClr val="0070C0"/>
                </a:solidFill>
              </a:rPr>
              <a:t>execute</a:t>
            </a:r>
            <a:r>
              <a:rPr lang="en-US" dirty="0"/>
              <a:t>().</a:t>
            </a:r>
          </a:p>
        </p:txBody>
      </p:sp>
    </p:spTree>
    <p:extLst>
      <p:ext uri="{BB962C8B-B14F-4D97-AF65-F5344CB8AC3E}">
        <p14:creationId xmlns:p14="http://schemas.microsoft.com/office/powerpoint/2010/main" val="133137869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80772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</a:rPr>
              <a:t>The </a:t>
            </a:r>
            <a:r>
              <a:rPr lang="en-US" sz="3200" b="1" dirty="0" smtClean="0">
                <a:solidFill>
                  <a:srgbClr val="00B0F0"/>
                </a:solidFill>
              </a:rPr>
              <a:t>exec</a:t>
            </a:r>
            <a:r>
              <a:rPr lang="en-US" sz="3200" b="1" dirty="0">
                <a:solidFill>
                  <a:srgbClr val="00B0F0"/>
                </a:solidFill>
              </a:rPr>
              <a:t>()</a:t>
            </a:r>
            <a:r>
              <a:rPr lang="en-US" sz="3200" b="1" dirty="0">
                <a:solidFill>
                  <a:srgbClr val="0070C0"/>
                </a:solidFill>
              </a:rPr>
              <a:t> </a:t>
            </a:r>
            <a:r>
              <a:rPr lang="en-US" sz="3200" b="1" dirty="0" smtClean="0">
                <a:solidFill>
                  <a:srgbClr val="0070C0"/>
                </a:solidFill>
              </a:rPr>
              <a:t>method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0"/>
            <a:ext cx="8534400" cy="6248400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buNone/>
            </a:pPr>
            <a:r>
              <a:rPr lang="en-US" sz="2000" b="1" u="sng" dirty="0" smtClean="0">
                <a:solidFill>
                  <a:srgbClr val="7030A0"/>
                </a:solidFill>
              </a:rPr>
              <a:t>Syntax  :</a:t>
            </a:r>
            <a:r>
              <a:rPr lang="en-US" sz="2000" dirty="0" smtClean="0">
                <a:solidFill>
                  <a:srgbClr val="00B050"/>
                </a:solidFill>
              </a:rPr>
              <a:t>               integer</a:t>
            </a:r>
            <a:r>
              <a:rPr lang="en-US" sz="2000" dirty="0" smtClean="0"/>
              <a:t> </a:t>
            </a:r>
            <a:r>
              <a:rPr lang="en-US" sz="2000" dirty="0">
                <a:solidFill>
                  <a:srgbClr val="00B0F0"/>
                </a:solidFill>
              </a:rPr>
              <a:t>PDO</a:t>
            </a:r>
            <a:r>
              <a:rPr lang="en-US" sz="2000" dirty="0"/>
              <a:t>::</a:t>
            </a:r>
            <a:r>
              <a:rPr lang="en-US" sz="2000" dirty="0">
                <a:solidFill>
                  <a:srgbClr val="0070C0"/>
                </a:solidFill>
              </a:rPr>
              <a:t>exec</a:t>
            </a:r>
            <a:r>
              <a:rPr lang="en-US" sz="2000" dirty="0"/>
              <a:t> (string </a:t>
            </a:r>
            <a:r>
              <a:rPr lang="en-US" sz="2000" i="1" dirty="0">
                <a:solidFill>
                  <a:srgbClr val="FF0000"/>
                </a:solidFill>
              </a:rPr>
              <a:t>query</a:t>
            </a:r>
            <a:r>
              <a:rPr lang="en-US" sz="2000" dirty="0" smtClean="0"/>
              <a:t>)</a:t>
            </a:r>
          </a:p>
          <a:p>
            <a:pPr marL="0" marR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000" dirty="0" smtClean="0"/>
              <a:t>This method </a:t>
            </a:r>
            <a:r>
              <a:rPr lang="en-US" sz="2000" dirty="0"/>
              <a:t>executes query and </a:t>
            </a:r>
            <a:r>
              <a:rPr lang="en-US" sz="2000" dirty="0">
                <a:solidFill>
                  <a:srgbClr val="00B050"/>
                </a:solidFill>
              </a:rPr>
              <a:t>returns</a:t>
            </a:r>
            <a:r>
              <a:rPr lang="en-US" sz="2000" dirty="0"/>
              <a:t> the </a:t>
            </a:r>
            <a:r>
              <a:rPr lang="en-US" sz="2000" dirty="0">
                <a:solidFill>
                  <a:srgbClr val="FF0000"/>
                </a:solidFill>
              </a:rPr>
              <a:t>number</a:t>
            </a:r>
            <a:r>
              <a:rPr lang="en-US" sz="2000" dirty="0"/>
              <a:t> of </a:t>
            </a:r>
            <a:r>
              <a:rPr lang="en-US" sz="2000" dirty="0">
                <a:solidFill>
                  <a:srgbClr val="FF0000"/>
                </a:solidFill>
              </a:rPr>
              <a:t>rows</a:t>
            </a:r>
            <a:r>
              <a:rPr lang="en-US" sz="2000" dirty="0"/>
              <a:t> affected by </a:t>
            </a:r>
            <a:r>
              <a:rPr lang="en-US" sz="2000" dirty="0" smtClean="0"/>
              <a:t>it. Which it’s used in executing </a:t>
            </a:r>
            <a:r>
              <a:rPr lang="en-US" sz="2000" dirty="0"/>
              <a:t>queries such as </a:t>
            </a:r>
            <a:r>
              <a:rPr lang="en-US" sz="2000" dirty="0">
                <a:solidFill>
                  <a:srgbClr val="00B0F0"/>
                </a:solidFill>
              </a:rPr>
              <a:t>INSERT</a:t>
            </a:r>
            <a:r>
              <a:rPr lang="en-US" sz="2000" dirty="0"/>
              <a:t>, </a:t>
            </a:r>
            <a:r>
              <a:rPr lang="en-US" sz="2000" dirty="0" smtClean="0">
                <a:solidFill>
                  <a:srgbClr val="00B0F0"/>
                </a:solidFill>
              </a:rPr>
              <a:t>UPDATE</a:t>
            </a:r>
            <a:r>
              <a:rPr lang="en-US" sz="2000" dirty="0"/>
              <a:t> </a:t>
            </a:r>
            <a:r>
              <a:rPr lang="en-US" sz="2000" dirty="0" smtClean="0"/>
              <a:t>and </a:t>
            </a:r>
            <a:r>
              <a:rPr lang="en-US" sz="2000" b="1" dirty="0" smtClean="0">
                <a:solidFill>
                  <a:srgbClr val="00B0F0"/>
                </a:solidFill>
              </a:rPr>
              <a:t>DELETE</a:t>
            </a:r>
            <a:endParaRPr lang="en-US" sz="2000" dirty="0" smtClean="0">
              <a:solidFill>
                <a:srgbClr val="00B0F0"/>
              </a:solidFill>
            </a:endParaRPr>
          </a:p>
          <a:p>
            <a:pPr marL="0" marR="0">
              <a:spcBef>
                <a:spcPts val="0"/>
              </a:spcBef>
            </a:pPr>
            <a:r>
              <a:rPr lang="en-US" sz="2000" u="sng" dirty="0" smtClean="0">
                <a:solidFill>
                  <a:srgbClr val="7030A0"/>
                </a:solidFill>
                <a:latin typeface="Segoe UI"/>
                <a:ea typeface="Times New Roman"/>
                <a:cs typeface="Arial"/>
              </a:rPr>
              <a:t>Example :  </a:t>
            </a:r>
            <a:r>
              <a:rPr lang="en-US" sz="2000" dirty="0" smtClean="0">
                <a:solidFill>
                  <a:srgbClr val="00B0F0"/>
                </a:solidFill>
              </a:rPr>
              <a:t>INSERT  </a:t>
            </a:r>
            <a:r>
              <a:rPr lang="en-US" sz="2000" dirty="0" smtClean="0"/>
              <a:t>a user information  into the  </a:t>
            </a:r>
            <a:r>
              <a:rPr lang="en-US" sz="2000" dirty="0" smtClean="0">
                <a:solidFill>
                  <a:srgbClr val="FFC000"/>
                </a:solidFill>
              </a:rPr>
              <a:t>info</a:t>
            </a:r>
            <a:r>
              <a:rPr lang="en-US" sz="2000" dirty="0" smtClean="0"/>
              <a:t> table.</a:t>
            </a:r>
            <a:endParaRPr lang="en-US" sz="1800" u="sng" dirty="0">
              <a:ea typeface="Calibri"/>
              <a:cs typeface="Arial"/>
            </a:endParaRPr>
          </a:p>
          <a:p>
            <a:pPr marL="0" marR="0" indent="0">
              <a:spcBef>
                <a:spcPts val="0"/>
              </a:spcBef>
              <a:buNone/>
              <a:tabLst>
                <a:tab pos="342900" algn="l"/>
              </a:tabLst>
            </a:pPr>
            <a:r>
              <a:rPr lang="en-US" sz="2000" dirty="0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&lt;?</a:t>
            </a:r>
            <a:r>
              <a:rPr lang="en-US" sz="2000" dirty="0" err="1" smtClean="0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php</a:t>
            </a:r>
            <a:r>
              <a:rPr lang="en-US" sz="2000" dirty="0" smtClean="0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  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servername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= 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localhost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 $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user 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= 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"username</a:t>
            </a:r>
            <a:r>
              <a:rPr lang="en-US" sz="20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 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         $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password = 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"password"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    $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dbname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= 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myDBPDO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try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{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16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$conn=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</a:t>
            </a:r>
            <a:r>
              <a:rPr lang="en-US" sz="1600" dirty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PDO(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mysql:host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=$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servername;dbname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=$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dbname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, $</a:t>
            </a:r>
            <a:r>
              <a:rPr lang="en-US" sz="16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user, 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$password);</a:t>
            </a:r>
            <a:b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</a:t>
            </a:r>
            <a:r>
              <a:rPr lang="en-US" sz="2000" dirty="0">
                <a:solidFill>
                  <a:srgbClr val="008000"/>
                </a:solidFill>
                <a:latin typeface="Consolas"/>
                <a:ea typeface="Times New Roman"/>
                <a:cs typeface="Arial"/>
              </a:rPr>
              <a:t>// set the PDO error mode to exception</a:t>
            </a:r>
            <a:br>
              <a:rPr lang="en-US" sz="2000" dirty="0">
                <a:solidFill>
                  <a:srgbClr val="008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 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$conn-&gt;</a:t>
            </a:r>
            <a:r>
              <a:rPr lang="en-US" sz="16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setAttribute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(PDO::ATTR_ERRMODE, PDO::ERRMODE_EXCEPTION);</a:t>
            </a:r>
            <a:b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sql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=</a:t>
            </a:r>
            <a:r>
              <a:rPr lang="en-US" sz="28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INSERT INTO 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info(</a:t>
            </a:r>
            <a:r>
              <a:rPr lang="en-US" sz="1800" dirty="0" err="1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fname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, 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age, 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email) VALUES 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(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'</a:t>
            </a:r>
            <a:r>
              <a:rPr lang="en-US" sz="1800" dirty="0" err="1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akrem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', 30 ,     </a:t>
            </a:r>
          </a:p>
          <a:p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'akrem@yahoo.com')"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</a:t>
            </a:r>
            <a:r>
              <a:rPr lang="en-US" sz="2800" dirty="0" smtClean="0">
                <a:solidFill>
                  <a:srgbClr val="008000"/>
                </a:solidFill>
                <a:latin typeface="Consolas"/>
                <a:ea typeface="Times New Roman"/>
                <a:cs typeface="Arial"/>
              </a:rPr>
              <a:t/>
            </a:r>
            <a:br>
              <a:rPr lang="en-US" sz="2800" dirty="0" smtClean="0">
                <a:solidFill>
                  <a:srgbClr val="008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 </a:t>
            </a:r>
            <a:r>
              <a:rPr lang="en-US" sz="2000" dirty="0"/>
              <a:t>$affected </a:t>
            </a:r>
            <a:r>
              <a:rPr lang="en-US" sz="2000" dirty="0" smtClean="0"/>
              <a:t>=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conn-&gt;exec($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sql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);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 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   </a:t>
            </a:r>
            <a:r>
              <a:rPr lang="en-US" sz="2000" dirty="0" smtClean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echo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</a:t>
            </a:r>
            <a:r>
              <a:rPr lang="en-US" sz="2000" dirty="0" smtClean="0"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Total rows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affected</a:t>
            </a:r>
            <a:r>
              <a:rPr lang="en-US" sz="20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:</a:t>
            </a:r>
            <a:r>
              <a:rPr lang="en-US" sz="2000" dirty="0"/>
              <a:t> $</a:t>
            </a:r>
            <a:r>
              <a:rPr lang="en-US" sz="2000" dirty="0" smtClean="0"/>
              <a:t>affected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 </a:t>
            </a:r>
            <a:r>
              <a:rPr lang="en-US" sz="2000" dirty="0"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 }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catch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PDOException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$e)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 {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   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</a:t>
            </a:r>
            <a:r>
              <a:rPr lang="en-US" sz="2000" dirty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echo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$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sql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. 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"&lt;</a:t>
            </a:r>
            <a:r>
              <a:rPr lang="en-US" sz="20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br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&gt;"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. $e-&gt;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getMessage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();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 }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conn = null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 </a:t>
            </a:r>
            <a:r>
              <a:rPr lang="en-US" sz="2000" dirty="0" smtClean="0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?&gt;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0625995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80772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</a:rPr>
              <a:t>The </a:t>
            </a:r>
            <a:r>
              <a:rPr lang="en-US" sz="3200" b="1" dirty="0" smtClean="0">
                <a:solidFill>
                  <a:srgbClr val="00B0F0"/>
                </a:solidFill>
              </a:rPr>
              <a:t>query()</a:t>
            </a:r>
            <a:r>
              <a:rPr lang="en-US" sz="3200" b="1" dirty="0" smtClean="0">
                <a:solidFill>
                  <a:srgbClr val="0070C0"/>
                </a:solidFill>
              </a:rPr>
              <a:t> method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0"/>
            <a:ext cx="8534400" cy="6248400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buNone/>
            </a:pPr>
            <a:r>
              <a:rPr lang="en-US" sz="2000" b="1" u="sng" dirty="0" smtClean="0">
                <a:solidFill>
                  <a:srgbClr val="7030A0"/>
                </a:solidFill>
              </a:rPr>
              <a:t>Syntax  :</a:t>
            </a:r>
            <a:r>
              <a:rPr lang="en-US" sz="2000" dirty="0" smtClean="0">
                <a:solidFill>
                  <a:srgbClr val="00B050"/>
                </a:solidFill>
              </a:rPr>
              <a:t>               </a:t>
            </a:r>
            <a:r>
              <a:rPr lang="en-US" sz="2000" dirty="0" err="1" smtClean="0">
                <a:solidFill>
                  <a:srgbClr val="00B050"/>
                </a:solidFill>
              </a:rPr>
              <a:t>PDOStatement</a:t>
            </a:r>
            <a:r>
              <a:rPr lang="en-US" sz="2000" dirty="0" smtClean="0"/>
              <a:t> </a:t>
            </a:r>
            <a:r>
              <a:rPr lang="en-US" sz="2000" dirty="0">
                <a:solidFill>
                  <a:srgbClr val="00B0F0"/>
                </a:solidFill>
              </a:rPr>
              <a:t>PDO</a:t>
            </a:r>
            <a:r>
              <a:rPr lang="en-US" sz="2000" dirty="0"/>
              <a:t>:: </a:t>
            </a:r>
            <a:r>
              <a:rPr lang="en-US" sz="2000" dirty="0" smtClean="0">
                <a:solidFill>
                  <a:srgbClr val="0070C0"/>
                </a:solidFill>
              </a:rPr>
              <a:t>query</a:t>
            </a:r>
            <a:r>
              <a:rPr lang="en-US" sz="2000" dirty="0" smtClean="0"/>
              <a:t> </a:t>
            </a:r>
            <a:r>
              <a:rPr lang="en-US" sz="2000" dirty="0"/>
              <a:t>(string </a:t>
            </a:r>
            <a:r>
              <a:rPr lang="en-US" sz="2000" i="1" dirty="0">
                <a:solidFill>
                  <a:srgbClr val="FF0000"/>
                </a:solidFill>
              </a:rPr>
              <a:t>query</a:t>
            </a:r>
            <a:r>
              <a:rPr lang="en-US" sz="2000" dirty="0"/>
              <a:t>)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The query() method executes the query specified by </a:t>
            </a:r>
            <a:r>
              <a:rPr lang="en-US" sz="2000" dirty="0">
                <a:solidFill>
                  <a:srgbClr val="FF0000"/>
                </a:solidFill>
              </a:rPr>
              <a:t>query</a:t>
            </a:r>
            <a:r>
              <a:rPr lang="en-US" sz="2000" dirty="0"/>
              <a:t>, </a:t>
            </a:r>
            <a:r>
              <a:rPr lang="en-US" sz="2000" dirty="0">
                <a:solidFill>
                  <a:srgbClr val="00B050"/>
                </a:solidFill>
              </a:rPr>
              <a:t>returning</a:t>
            </a:r>
            <a:r>
              <a:rPr lang="en-US" sz="2000" dirty="0"/>
              <a:t> it as a </a:t>
            </a:r>
            <a:r>
              <a:rPr lang="en-US" sz="2000" dirty="0" err="1" smtClean="0">
                <a:solidFill>
                  <a:srgbClr val="00B050"/>
                </a:solidFill>
              </a:rPr>
              <a:t>PDOStatement</a:t>
            </a:r>
            <a:r>
              <a:rPr lang="en-US" sz="2000" dirty="0" smtClean="0">
                <a:solidFill>
                  <a:srgbClr val="00B050"/>
                </a:solidFill>
              </a:rPr>
              <a:t> object</a:t>
            </a:r>
            <a:r>
              <a:rPr lang="en-US" sz="2000" dirty="0" smtClean="0"/>
              <a:t>.    Which it’s used in </a:t>
            </a:r>
            <a:r>
              <a:rPr lang="en-US" sz="2000" b="1" dirty="0" smtClean="0">
                <a:solidFill>
                  <a:srgbClr val="00B0F0"/>
                </a:solidFill>
              </a:rPr>
              <a:t>select</a:t>
            </a:r>
            <a:r>
              <a:rPr lang="en-US" sz="2000" dirty="0" smtClean="0"/>
              <a:t> queries </a:t>
            </a:r>
          </a:p>
          <a:p>
            <a:r>
              <a:rPr lang="en-US" sz="2000" dirty="0" smtClean="0"/>
              <a:t>To </a:t>
            </a:r>
            <a:r>
              <a:rPr lang="en-US" sz="2000" dirty="0" smtClean="0">
                <a:solidFill>
                  <a:srgbClr val="C00000"/>
                </a:solidFill>
              </a:rPr>
              <a:t>get</a:t>
            </a:r>
            <a:r>
              <a:rPr lang="en-US" sz="2000" dirty="0" smtClean="0"/>
              <a:t> </a:t>
            </a:r>
            <a:r>
              <a:rPr lang="en-US" sz="2000" dirty="0" smtClean="0">
                <a:solidFill>
                  <a:srgbClr val="00B050"/>
                </a:solidFill>
              </a:rPr>
              <a:t>total </a:t>
            </a:r>
            <a:r>
              <a:rPr lang="en-US" sz="2000" dirty="0">
                <a:solidFill>
                  <a:srgbClr val="00B050"/>
                </a:solidFill>
              </a:rPr>
              <a:t>number</a:t>
            </a:r>
            <a:r>
              <a:rPr lang="en-US" sz="2000" dirty="0"/>
              <a:t> of </a:t>
            </a:r>
            <a:r>
              <a:rPr lang="en-US" sz="2000" dirty="0">
                <a:solidFill>
                  <a:srgbClr val="C00000"/>
                </a:solidFill>
              </a:rPr>
              <a:t>rows</a:t>
            </a:r>
            <a:r>
              <a:rPr lang="en-US" sz="2000" dirty="0"/>
              <a:t> affected, use </a:t>
            </a:r>
            <a:r>
              <a:rPr lang="en-US" sz="2000" dirty="0" smtClean="0"/>
              <a:t>the </a:t>
            </a:r>
            <a:r>
              <a:rPr lang="en-US" sz="2000" dirty="0" err="1" smtClean="0">
                <a:solidFill>
                  <a:srgbClr val="0070C0"/>
                </a:solidFill>
              </a:rPr>
              <a:t>rowCount</a:t>
            </a:r>
            <a:r>
              <a:rPr lang="en-US" sz="2000" dirty="0"/>
              <a:t>() method.</a:t>
            </a:r>
            <a:endParaRPr lang="en-US" sz="2000" dirty="0" smtClean="0">
              <a:solidFill>
                <a:srgbClr val="00B0F0"/>
              </a:solidFill>
            </a:endParaRPr>
          </a:p>
          <a:p>
            <a:pPr marL="0" marR="0">
              <a:spcBef>
                <a:spcPts val="0"/>
              </a:spcBef>
            </a:pPr>
            <a:r>
              <a:rPr lang="en-US" sz="2000" u="sng" dirty="0" smtClean="0">
                <a:solidFill>
                  <a:srgbClr val="7030A0"/>
                </a:solidFill>
                <a:latin typeface="Segoe UI"/>
                <a:ea typeface="Times New Roman"/>
                <a:cs typeface="Arial"/>
              </a:rPr>
              <a:t>Example :  </a:t>
            </a:r>
            <a:r>
              <a:rPr lang="en-US" sz="2000" dirty="0" smtClean="0">
                <a:solidFill>
                  <a:srgbClr val="00B0F0"/>
                </a:solidFill>
              </a:rPr>
              <a:t>Get    </a:t>
            </a:r>
            <a:r>
              <a:rPr lang="en-US" sz="2000" dirty="0" smtClean="0"/>
              <a:t>all users  information  from  </a:t>
            </a:r>
            <a:r>
              <a:rPr lang="en-US" sz="2000" dirty="0" smtClean="0">
                <a:solidFill>
                  <a:srgbClr val="FFC000"/>
                </a:solidFill>
              </a:rPr>
              <a:t>info</a:t>
            </a:r>
            <a:r>
              <a:rPr lang="en-US" sz="2000" dirty="0" smtClean="0"/>
              <a:t> table using </a:t>
            </a:r>
            <a:r>
              <a:rPr lang="en-US" sz="2000" dirty="0" smtClean="0">
                <a:solidFill>
                  <a:srgbClr val="0070C0"/>
                </a:solidFill>
              </a:rPr>
              <a:t>query()</a:t>
            </a:r>
            <a:r>
              <a:rPr lang="en-US" sz="2000" dirty="0" smtClean="0"/>
              <a:t> .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servername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= 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localhost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 $user 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= 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"username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 </a:t>
            </a:r>
            <a:b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password = 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"password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 $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dbname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= 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myDBPDO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 smtClean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try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{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6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conn = </a:t>
            </a:r>
            <a:r>
              <a:rPr lang="en-US" sz="1600" dirty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PDO(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mysql:host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=$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servername;dbname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=$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dbname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, $</a:t>
            </a:r>
            <a:r>
              <a:rPr lang="en-US" sz="16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user, 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$password);</a:t>
            </a:r>
            <a:b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   </a:t>
            </a:r>
            <a:r>
              <a:rPr lang="en-US" sz="17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$conn-&gt;</a:t>
            </a:r>
            <a:r>
              <a:rPr lang="en-US" sz="1700" dirty="0" err="1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setAttribute</a:t>
            </a:r>
            <a:r>
              <a:rPr lang="en-US" sz="17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(PDO::ATTR_ERRMODE, PDO::ERRMODE_EXCEPTION);</a:t>
            </a:r>
            <a:br>
              <a:rPr lang="en-US" sz="17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   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$result=$conn-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&gt;</a:t>
            </a:r>
            <a:r>
              <a:rPr lang="en-US" sz="1800" dirty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query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"SELECT 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id, 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name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, 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age 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FROM 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info")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</a:t>
            </a:r>
            <a:endParaRPr lang="en-US" sz="1800" dirty="0" smtClean="0">
              <a:solidFill>
                <a:srgbClr val="000000"/>
              </a:solidFill>
              <a:latin typeface="Consolas"/>
              <a:ea typeface="Calibri"/>
              <a:cs typeface="Arial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   $result</a:t>
            </a:r>
            <a:r>
              <a:rPr lang="en-US" sz="1800" dirty="0" smtClean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-&gt;</a:t>
            </a:r>
            <a:r>
              <a:rPr lang="en-US" sz="1800" dirty="0" err="1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setFetchMode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(PDO::FETCH_ASSOC); 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   $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all_rows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= $ 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result</a:t>
            </a:r>
            <a:r>
              <a:rPr lang="en-US" sz="1800" dirty="0" smtClean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-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&gt;</a:t>
            </a:r>
            <a:r>
              <a:rPr lang="en-US" sz="1800" dirty="0" err="1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fetchAll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();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    </a:t>
            </a:r>
            <a:r>
              <a:rPr lang="en-US" sz="1800" dirty="0" err="1" smtClean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foreach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all_rows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</a:t>
            </a:r>
            <a:r>
              <a:rPr lang="en-US" sz="1800" dirty="0" smtClean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as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$row){ </a:t>
            </a:r>
            <a:b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 smtClean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echo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$row[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'id'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],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 -- 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,$row[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'name'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],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“ -- 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, $row[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'age'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],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"&lt;</a:t>
            </a:r>
            <a:r>
              <a:rPr lang="en-US" sz="1800" dirty="0" err="1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br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/&gt;"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 }</a:t>
            </a:r>
            <a:b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  }</a:t>
            </a:r>
            <a:b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 smtClean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catch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PDOException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$e) {</a:t>
            </a:r>
            <a:b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   </a:t>
            </a:r>
            <a:r>
              <a:rPr lang="en-US" sz="1800" dirty="0" smtClean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echo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"Error: 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. $e-&gt;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getMessage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();</a:t>
            </a:r>
            <a:b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}</a:t>
            </a:r>
            <a:b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$conn = null;   </a:t>
            </a:r>
            <a:r>
              <a:rPr lang="en-US" sz="1800" dirty="0" smtClean="0">
                <a:solidFill>
                  <a:srgbClr val="FF0000"/>
                </a:solidFill>
                <a:latin typeface="Consolas"/>
                <a:ea typeface="Calibri"/>
                <a:cs typeface="Arial"/>
              </a:rPr>
              <a:t>?&gt;</a:t>
            </a:r>
            <a:endParaRPr lang="en-US" sz="1800" dirty="0" smtClean="0">
              <a:ea typeface="Calibri"/>
              <a:cs typeface="Arial"/>
            </a:endParaRPr>
          </a:p>
          <a:p>
            <a:pPr marL="0" marR="0">
              <a:spcBef>
                <a:spcPts val="0"/>
              </a:spcBef>
            </a:pPr>
            <a:endParaRPr lang="en-US" sz="1800" u="sng" dirty="0"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6245832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80772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</a:rPr>
              <a:t>The </a:t>
            </a:r>
            <a:r>
              <a:rPr lang="en-US" sz="3200" b="1" dirty="0" smtClean="0">
                <a:solidFill>
                  <a:srgbClr val="00B0F0"/>
                </a:solidFill>
              </a:rPr>
              <a:t>fetch()</a:t>
            </a:r>
            <a:r>
              <a:rPr lang="en-US" sz="3200" b="1" dirty="0" smtClean="0">
                <a:solidFill>
                  <a:srgbClr val="0070C0"/>
                </a:solidFill>
              </a:rPr>
              <a:t> method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0"/>
            <a:ext cx="8534400" cy="6248400"/>
          </a:xfrm>
        </p:spPr>
        <p:txBody>
          <a:bodyPr>
            <a:noAutofit/>
          </a:bodyPr>
          <a:lstStyle/>
          <a:p>
            <a:r>
              <a:rPr lang="en-US" sz="2000" dirty="0">
                <a:hlinkClick r:id="rId2" action="ppaction://hlinkfile"/>
              </a:rPr>
              <a:t>mixed</a:t>
            </a:r>
            <a:r>
              <a:rPr lang="en-US" sz="2000" dirty="0"/>
              <a:t> </a:t>
            </a:r>
            <a:r>
              <a:rPr lang="en-US" sz="2000" b="1" dirty="0" err="1">
                <a:solidFill>
                  <a:srgbClr val="00B050"/>
                </a:solidFill>
              </a:rPr>
              <a:t>PDOStatement</a:t>
            </a:r>
            <a:r>
              <a:rPr lang="en-US" sz="2000" b="1" dirty="0"/>
              <a:t>::</a:t>
            </a:r>
            <a:r>
              <a:rPr lang="en-US" sz="2000" b="1" dirty="0">
                <a:solidFill>
                  <a:srgbClr val="0070C0"/>
                </a:solidFill>
              </a:rPr>
              <a:t>fetch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([ </a:t>
            </a:r>
            <a:r>
              <a:rPr lang="en-US" sz="2000" dirty="0" err="1"/>
              <a:t>int</a:t>
            </a:r>
            <a:r>
              <a:rPr lang="en-US" sz="2000" dirty="0"/>
              <a:t> $</a:t>
            </a:r>
            <a:r>
              <a:rPr lang="en-US" sz="2000" dirty="0" err="1">
                <a:solidFill>
                  <a:srgbClr val="0070C0"/>
                </a:solidFill>
              </a:rPr>
              <a:t>fetch_style</a:t>
            </a:r>
            <a:r>
              <a:rPr lang="en-US" sz="2000" dirty="0">
                <a:solidFill>
                  <a:srgbClr val="0070C0"/>
                </a:solidFill>
              </a:rPr>
              <a:t> </a:t>
            </a:r>
            <a:r>
              <a:rPr lang="en-US" sz="2000" dirty="0"/>
              <a:t>= </a:t>
            </a:r>
            <a:r>
              <a:rPr lang="en-US" sz="2000" dirty="0">
                <a:solidFill>
                  <a:srgbClr val="FF0000"/>
                </a:solidFill>
              </a:rPr>
              <a:t>PDO::FETCH_BOTH </a:t>
            </a:r>
            <a:r>
              <a:rPr lang="en-US" sz="2000" dirty="0"/>
              <a:t>[, </a:t>
            </a:r>
            <a:r>
              <a:rPr lang="en-US" sz="2000" dirty="0" err="1"/>
              <a:t>int</a:t>
            </a:r>
            <a:r>
              <a:rPr lang="en-US" sz="2000" dirty="0"/>
              <a:t> $</a:t>
            </a:r>
            <a:r>
              <a:rPr lang="en-US" sz="2000" dirty="0" err="1"/>
              <a:t>cursor_orientation</a:t>
            </a:r>
            <a:r>
              <a:rPr lang="en-US" sz="2000" dirty="0"/>
              <a:t> = </a:t>
            </a:r>
            <a:r>
              <a:rPr lang="en-US" sz="2000" dirty="0">
                <a:solidFill>
                  <a:srgbClr val="FF0000"/>
                </a:solidFill>
              </a:rPr>
              <a:t>PDO::FETCH_ORI_NEXT </a:t>
            </a:r>
            <a:r>
              <a:rPr lang="en-US" sz="2000" dirty="0"/>
              <a:t>[,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$</a:t>
            </a:r>
            <a:r>
              <a:rPr lang="en-US" sz="2000" dirty="0" err="1">
                <a:solidFill>
                  <a:srgbClr val="FF0000"/>
                </a:solidFill>
              </a:rPr>
              <a:t>cursor_offset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= 0 ]]] )</a:t>
            </a:r>
          </a:p>
          <a:p>
            <a:r>
              <a:rPr lang="en-US" sz="2000" i="1" dirty="0" err="1" smtClean="0">
                <a:solidFill>
                  <a:srgbClr val="0070C0"/>
                </a:solidFill>
              </a:rPr>
              <a:t>fetch_style</a:t>
            </a:r>
            <a:r>
              <a:rPr lang="en-US" sz="2000" dirty="0" smtClean="0">
                <a:solidFill>
                  <a:srgbClr val="0070C0"/>
                </a:solidFill>
              </a:rPr>
              <a:t> </a:t>
            </a:r>
            <a:r>
              <a:rPr lang="en-US" sz="2000" dirty="0"/>
              <a:t>Controls how the next row will be returned to the caller. This value must be one of the </a:t>
            </a:r>
            <a:r>
              <a:rPr lang="en-US" sz="2000" i="1" dirty="0">
                <a:solidFill>
                  <a:srgbClr val="FF0000"/>
                </a:solidFill>
              </a:rPr>
              <a:t>PDO::FETCH_*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smtClean="0">
                <a:solidFill>
                  <a:srgbClr val="00B050"/>
                </a:solidFill>
              </a:rPr>
              <a:t>constants</a:t>
            </a:r>
            <a:r>
              <a:rPr lang="en-US" sz="2000" dirty="0"/>
              <a:t>, </a:t>
            </a:r>
            <a:r>
              <a:rPr lang="en-US" sz="2000" b="1" u="sng" dirty="0"/>
              <a:t>defaulting</a:t>
            </a:r>
            <a:r>
              <a:rPr lang="en-US" sz="2000" dirty="0"/>
              <a:t> to </a:t>
            </a:r>
            <a:r>
              <a:rPr lang="en-US" sz="2000" i="1" dirty="0">
                <a:solidFill>
                  <a:srgbClr val="00B050"/>
                </a:solidFill>
              </a:rPr>
              <a:t>PDO::FETCH_BOTH</a:t>
            </a:r>
            <a:r>
              <a:rPr lang="en-US" sz="2000" dirty="0"/>
              <a:t>. </a:t>
            </a:r>
            <a:endParaRPr lang="en-US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400" i="1" u="sng" dirty="0" err="1" smtClean="0">
                <a:solidFill>
                  <a:srgbClr val="0070C0"/>
                </a:solidFill>
              </a:rPr>
              <a:t>fetch_style</a:t>
            </a:r>
            <a:r>
              <a:rPr lang="en-US" sz="2400" i="1" u="sng" dirty="0" smtClean="0">
                <a:solidFill>
                  <a:srgbClr val="0070C0"/>
                </a:solidFill>
              </a:rPr>
              <a:t>  values:</a:t>
            </a:r>
            <a:endParaRPr lang="en-US" sz="1000" u="sng" dirty="0"/>
          </a:p>
          <a:p>
            <a:pPr>
              <a:buFont typeface="Arial"/>
              <a:buChar char="•"/>
            </a:pPr>
            <a:r>
              <a:rPr lang="en-US" sz="2000" i="1" dirty="0">
                <a:solidFill>
                  <a:srgbClr val="FF0000"/>
                </a:solidFill>
              </a:rPr>
              <a:t>PDO::FETCH_ASSOC</a:t>
            </a:r>
            <a:r>
              <a:rPr lang="en-US" sz="2000" dirty="0"/>
              <a:t>: returns an array indexed by column name as returned in your result set </a:t>
            </a:r>
          </a:p>
          <a:p>
            <a:pPr>
              <a:buFont typeface="Arial"/>
              <a:buChar char="•"/>
            </a:pPr>
            <a:r>
              <a:rPr lang="en-US" sz="2000" i="1" dirty="0">
                <a:solidFill>
                  <a:srgbClr val="FF0000"/>
                </a:solidFill>
              </a:rPr>
              <a:t>PDO::FETCH_BOTH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(default): returns an array indexed by both column name and 0-indexed column number as returned in your result set </a:t>
            </a:r>
          </a:p>
          <a:p>
            <a:pPr>
              <a:buFont typeface="Arial"/>
              <a:buChar char="•"/>
            </a:pPr>
            <a:r>
              <a:rPr lang="en-US" sz="2000" i="1" dirty="0" smtClean="0">
                <a:solidFill>
                  <a:srgbClr val="FF0000"/>
                </a:solidFill>
              </a:rPr>
              <a:t>PDO</a:t>
            </a:r>
            <a:r>
              <a:rPr lang="en-US" sz="2000" i="1" dirty="0">
                <a:solidFill>
                  <a:srgbClr val="FF0000"/>
                </a:solidFill>
              </a:rPr>
              <a:t>::FETCH_CLASS</a:t>
            </a:r>
            <a:r>
              <a:rPr lang="en-US" sz="2000" dirty="0">
                <a:solidFill>
                  <a:srgbClr val="FF0000"/>
                </a:solidFill>
              </a:rPr>
              <a:t>: </a:t>
            </a:r>
            <a:r>
              <a:rPr lang="en-US" sz="2000" dirty="0"/>
              <a:t>returns a new instance of the requested class, mapping the columns of the result set to named properties in the class. If </a:t>
            </a:r>
            <a:r>
              <a:rPr lang="en-US" sz="2000" dirty="0" smtClean="0"/>
              <a:t> </a:t>
            </a:r>
            <a:r>
              <a:rPr lang="en-US" sz="2000" i="1" dirty="0" err="1" smtClean="0"/>
              <a:t>fetch_style</a:t>
            </a:r>
            <a:r>
              <a:rPr lang="en-US" sz="2000" i="1" dirty="0" smtClean="0"/>
              <a:t> </a:t>
            </a:r>
            <a:r>
              <a:rPr lang="en-US" sz="2000" dirty="0" smtClean="0"/>
              <a:t> </a:t>
            </a:r>
            <a:r>
              <a:rPr lang="en-US" sz="2000" dirty="0"/>
              <a:t>includes </a:t>
            </a:r>
            <a:r>
              <a:rPr lang="en-US" sz="2000" dirty="0" smtClean="0">
                <a:solidFill>
                  <a:srgbClr val="00B050"/>
                </a:solidFill>
              </a:rPr>
              <a:t>PDO</a:t>
            </a:r>
            <a:r>
              <a:rPr lang="en-US" sz="2000" dirty="0">
                <a:solidFill>
                  <a:srgbClr val="00B050"/>
                </a:solidFill>
              </a:rPr>
              <a:t>::</a:t>
            </a:r>
            <a:r>
              <a:rPr lang="en-US" sz="2000" dirty="0" smtClean="0">
                <a:solidFill>
                  <a:srgbClr val="00B050"/>
                </a:solidFill>
              </a:rPr>
              <a:t>FETCH_CLASS TYPE  </a:t>
            </a:r>
            <a:r>
              <a:rPr lang="en-US" sz="2000" dirty="0"/>
              <a:t>(e.g. </a:t>
            </a:r>
            <a:r>
              <a:rPr lang="en-US" sz="2000" i="1" dirty="0"/>
              <a:t>PDO::FETCH_CLASS | PDO::FETCH_CLASSTYPE</a:t>
            </a:r>
            <a:r>
              <a:rPr lang="en-US" sz="2000" dirty="0"/>
              <a:t>) then the </a:t>
            </a:r>
            <a:r>
              <a:rPr lang="en-US" sz="2000" dirty="0">
                <a:solidFill>
                  <a:srgbClr val="00B050"/>
                </a:solidFill>
              </a:rPr>
              <a:t>name</a:t>
            </a:r>
            <a:r>
              <a:rPr lang="en-US" sz="2000" dirty="0"/>
              <a:t> of the </a:t>
            </a:r>
            <a:r>
              <a:rPr lang="en-US" sz="2000" dirty="0">
                <a:solidFill>
                  <a:srgbClr val="00B050"/>
                </a:solidFill>
              </a:rPr>
              <a:t>class</a:t>
            </a:r>
            <a:r>
              <a:rPr lang="en-US" sz="2000" dirty="0"/>
              <a:t> is </a:t>
            </a:r>
            <a:r>
              <a:rPr lang="en-US" sz="2000" i="1" dirty="0"/>
              <a:t>determined</a:t>
            </a:r>
            <a:r>
              <a:rPr lang="en-US" sz="2000" dirty="0"/>
              <a:t> from a value of </a:t>
            </a:r>
            <a:r>
              <a:rPr lang="en-US" sz="2000" dirty="0">
                <a:solidFill>
                  <a:srgbClr val="00B050"/>
                </a:solidFill>
              </a:rPr>
              <a:t>the first column</a:t>
            </a:r>
            <a:r>
              <a:rPr lang="en-US" sz="2000" dirty="0"/>
              <a:t>. </a:t>
            </a:r>
          </a:p>
          <a:p>
            <a:pPr>
              <a:buFont typeface="Arial"/>
              <a:buChar char="•"/>
            </a:pPr>
            <a:r>
              <a:rPr lang="en-US" sz="2000" i="1" dirty="0" smtClean="0">
                <a:solidFill>
                  <a:srgbClr val="FF0000"/>
                </a:solidFill>
              </a:rPr>
              <a:t>PDO</a:t>
            </a:r>
            <a:r>
              <a:rPr lang="en-US" sz="2000" i="1" dirty="0">
                <a:solidFill>
                  <a:srgbClr val="FF0000"/>
                </a:solidFill>
              </a:rPr>
              <a:t>::FETCH_NUM</a:t>
            </a:r>
            <a:r>
              <a:rPr lang="en-US" sz="2000" dirty="0">
                <a:solidFill>
                  <a:srgbClr val="FF0000"/>
                </a:solidFill>
              </a:rPr>
              <a:t>: </a:t>
            </a:r>
            <a:r>
              <a:rPr lang="en-US" sz="2000" dirty="0"/>
              <a:t>returns an array indexed by column number as returned in your result set, starting at column </a:t>
            </a:r>
            <a:r>
              <a:rPr lang="en-US" sz="2000" b="1" dirty="0">
                <a:solidFill>
                  <a:srgbClr val="00B050"/>
                </a:solidFill>
              </a:rPr>
              <a:t>0</a:t>
            </a:r>
            <a:r>
              <a:rPr lang="en-US" sz="2000" dirty="0"/>
              <a:t> </a:t>
            </a:r>
          </a:p>
          <a:p>
            <a:pPr>
              <a:buFont typeface="Arial"/>
              <a:buChar char="•"/>
            </a:pPr>
            <a:r>
              <a:rPr lang="en-US" sz="2000" i="1" dirty="0">
                <a:solidFill>
                  <a:srgbClr val="FF0000"/>
                </a:solidFill>
              </a:rPr>
              <a:t>PDO::FETCH_OBJ</a:t>
            </a:r>
            <a:r>
              <a:rPr lang="en-US" sz="2000" dirty="0">
                <a:solidFill>
                  <a:srgbClr val="FF0000"/>
                </a:solidFill>
              </a:rPr>
              <a:t>: </a:t>
            </a:r>
            <a:r>
              <a:rPr lang="en-US" sz="2000" dirty="0"/>
              <a:t>returns an anonymous object with property names that correspond to the column names returned in your result set </a:t>
            </a:r>
          </a:p>
          <a:p>
            <a:pPr marL="0" marR="0" indent="0">
              <a:spcBef>
                <a:spcPts val="0"/>
              </a:spcBef>
              <a:buNone/>
            </a:pPr>
            <a:endParaRPr lang="en-US" sz="2000" u="sng" dirty="0"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2354404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077200" cy="56856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Example: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458200" cy="6019799"/>
          </a:xfrm>
        </p:spPr>
        <p:txBody>
          <a:bodyPr>
            <a:normAutofit fontScale="32500" lnSpcReduction="2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4400" b="1" u="sng" dirty="0">
                <a:solidFill>
                  <a:srgbClr val="7030A0"/>
                </a:solidFill>
                <a:latin typeface="Times New Roman"/>
                <a:ea typeface="Times New Roman"/>
                <a:cs typeface="Arial"/>
              </a:rPr>
              <a:t>Example #1 </a:t>
            </a:r>
            <a:r>
              <a:rPr lang="en-US" sz="4400" b="1" u="sng" dirty="0" smtClean="0">
                <a:solidFill>
                  <a:srgbClr val="7030A0"/>
                </a:solidFill>
                <a:latin typeface="Times New Roman"/>
                <a:ea typeface="Times New Roman"/>
                <a:cs typeface="Arial"/>
              </a:rPr>
              <a:t>  </a:t>
            </a:r>
            <a:r>
              <a:rPr lang="en-US" sz="4400" b="1" dirty="0" smtClean="0">
                <a:latin typeface="Times New Roman"/>
                <a:ea typeface="Times New Roman"/>
                <a:cs typeface="Arial"/>
              </a:rPr>
              <a:t>Fetching </a:t>
            </a:r>
            <a:r>
              <a:rPr lang="en-US" sz="4400" b="1" dirty="0">
                <a:latin typeface="Times New Roman"/>
                <a:ea typeface="Times New Roman"/>
                <a:cs typeface="Arial"/>
              </a:rPr>
              <a:t>rows using different </a:t>
            </a:r>
            <a:r>
              <a:rPr lang="en-US" sz="4400" b="1" dirty="0">
                <a:solidFill>
                  <a:srgbClr val="00B050"/>
                </a:solidFill>
                <a:latin typeface="Times New Roman"/>
                <a:ea typeface="Times New Roman"/>
                <a:cs typeface="Arial"/>
              </a:rPr>
              <a:t>fetch styles</a:t>
            </a:r>
            <a:endParaRPr lang="en-US" sz="4000" dirty="0">
              <a:solidFill>
                <a:srgbClr val="00B050"/>
              </a:solidFill>
              <a:ea typeface="Calibri"/>
              <a:cs typeface="Arial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900" dirty="0">
                <a:solidFill>
                  <a:srgbClr val="FF0000"/>
                </a:solidFill>
                <a:latin typeface="Courier New"/>
                <a:ea typeface="Times New Roman"/>
                <a:cs typeface="Arial"/>
              </a:rPr>
              <a:t>&lt;?</a:t>
            </a:r>
            <a:r>
              <a:rPr lang="en-US" sz="4900" dirty="0" err="1">
                <a:solidFill>
                  <a:srgbClr val="FF0000"/>
                </a:solidFill>
                <a:latin typeface="Courier New"/>
                <a:ea typeface="Times New Roman"/>
                <a:cs typeface="Arial"/>
              </a:rPr>
              <a:t>php</a:t>
            </a: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/>
            </a:r>
            <a:b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</a:br>
            <a:r>
              <a:rPr lang="en-US" sz="4900" dirty="0" smtClean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$res</a:t>
            </a: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 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= </a:t>
            </a:r>
            <a:r>
              <a:rPr lang="en-US" sz="4900" dirty="0" smtClean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$con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-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&gt;</a:t>
            </a:r>
            <a:r>
              <a:rPr lang="en-US" sz="4900" dirty="0" err="1" smtClean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quary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(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"</a:t>
            </a:r>
            <a:r>
              <a:rPr lang="en-US" sz="4900" dirty="0">
                <a:solidFill>
                  <a:srgbClr val="C00000"/>
                </a:solidFill>
                <a:latin typeface="Courier New"/>
                <a:ea typeface="Times New Roman"/>
                <a:cs typeface="Arial"/>
              </a:rPr>
              <a:t>SELECT name, </a:t>
            </a:r>
            <a:r>
              <a:rPr lang="en-US" sz="4900" dirty="0" smtClean="0">
                <a:solidFill>
                  <a:srgbClr val="C00000"/>
                </a:solidFill>
                <a:latin typeface="Courier New"/>
                <a:ea typeface="Times New Roman"/>
                <a:cs typeface="Arial"/>
              </a:rPr>
              <a:t>gender, nationality FROM</a:t>
            </a:r>
            <a:r>
              <a:rPr lang="en-US" sz="4900" dirty="0">
                <a:solidFill>
                  <a:srgbClr val="C00000"/>
                </a:solidFill>
                <a:latin typeface="Courier New"/>
                <a:ea typeface="Times New Roman"/>
                <a:cs typeface="Arial"/>
              </a:rPr>
              <a:t> </a:t>
            </a:r>
            <a:r>
              <a:rPr lang="en-US" sz="4900" smtClean="0">
                <a:solidFill>
                  <a:srgbClr val="C00000"/>
                </a:solidFill>
                <a:latin typeface="Courier New"/>
                <a:ea typeface="Times New Roman"/>
                <a:cs typeface="Arial"/>
              </a:rPr>
              <a:t>info</a:t>
            </a:r>
            <a:r>
              <a:rPr lang="en-US" sz="490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"</a:t>
            </a:r>
            <a:r>
              <a:rPr lang="en-US" sz="490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);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/>
            </a:r>
            <a:b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</a:br>
            <a:endParaRPr lang="en-US" sz="4900" dirty="0" smtClean="0">
              <a:solidFill>
                <a:srgbClr val="007700"/>
              </a:solidFill>
              <a:latin typeface="Courier New"/>
              <a:ea typeface="Times New Roman"/>
              <a:cs typeface="Arial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print(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"</a:t>
            </a:r>
            <a:r>
              <a:rPr lang="en-US" sz="49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 PDO::FETCH_ASSOC: 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 Return</a:t>
            </a:r>
            <a:r>
              <a:rPr lang="en-US" sz="49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 next row as an array indexed by column 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name</a:t>
            </a:r>
            <a:r>
              <a:rPr lang="en-US" sz="49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&lt;</a:t>
            </a:r>
            <a:r>
              <a:rPr lang="en-US" sz="4900" dirty="0" err="1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br</a:t>
            </a:r>
            <a:r>
              <a:rPr lang="en-US" sz="49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/&gt;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"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);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/>
            </a:r>
            <a:b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</a:b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$result 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= </a:t>
            </a:r>
            <a:r>
              <a:rPr lang="en-US" sz="4900" dirty="0" smtClean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$res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-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&gt;</a:t>
            </a: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fetch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(</a:t>
            </a: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PDO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::</a:t>
            </a: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FETCH_ASSOC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);</a:t>
            </a:r>
            <a:b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</a:br>
            <a:r>
              <a:rPr lang="en-US" sz="4900" dirty="0" err="1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print_r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(</a:t>
            </a: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$result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);</a:t>
            </a:r>
            <a:b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</a:b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print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(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"&lt;</a:t>
            </a:r>
            <a:r>
              <a:rPr lang="en-US" sz="4900" dirty="0" err="1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br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/&gt;"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);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/>
            </a:r>
            <a:b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</a:b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/>
            </a:r>
            <a:b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</a:b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print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(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"</a:t>
            </a:r>
            <a:r>
              <a:rPr lang="en-US" sz="43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FETCH_BOTH: Return</a:t>
            </a:r>
            <a:r>
              <a:rPr lang="en-US" sz="43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 next row as an array indexed by both </a:t>
            </a:r>
            <a:r>
              <a:rPr lang="en-US" sz="43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ASSOC</a:t>
            </a:r>
            <a:r>
              <a:rPr lang="en-US" sz="43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 and </a:t>
            </a:r>
            <a:r>
              <a:rPr lang="en-US" sz="43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number</a:t>
            </a:r>
            <a:r>
              <a:rPr lang="en-US" sz="44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&lt;</a:t>
            </a:r>
            <a:r>
              <a:rPr lang="en-US" sz="4400" dirty="0" err="1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br</a:t>
            </a:r>
            <a:r>
              <a:rPr lang="en-US" sz="44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/&gt;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"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);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/>
            </a:r>
            <a:b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</a:b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$result 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= </a:t>
            </a:r>
            <a:r>
              <a:rPr lang="en-US" sz="4900" dirty="0" smtClean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$res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-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&gt;</a:t>
            </a: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fetch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(</a:t>
            </a: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PDO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::</a:t>
            </a: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FETCH_BOTH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);</a:t>
            </a:r>
            <a:b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</a:br>
            <a:r>
              <a:rPr lang="en-US" sz="4900" dirty="0" err="1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print_r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(</a:t>
            </a: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$result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);</a:t>
            </a:r>
            <a:b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</a:b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print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(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"</a:t>
            </a:r>
            <a:r>
              <a:rPr lang="en-US" sz="49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&lt;</a:t>
            </a:r>
            <a:r>
              <a:rPr lang="en-US" sz="4900" dirty="0" err="1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br</a:t>
            </a:r>
            <a:r>
              <a:rPr lang="en-US" sz="49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/&gt;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"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);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/>
            </a:r>
            <a:b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</a:b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/>
            </a:r>
            <a:b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</a:b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print(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"FETCH_OBJ: Return</a:t>
            </a:r>
            <a:r>
              <a:rPr lang="en-US" sz="49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 next row as an 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unnamed</a:t>
            </a:r>
            <a:r>
              <a:rPr lang="en-US" sz="49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 </a:t>
            </a:r>
            <a:r>
              <a:rPr lang="en-US" sz="4900" dirty="0" err="1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object,the</a:t>
            </a:r>
            <a:r>
              <a:rPr lang="en-US" sz="49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 column names as 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properties</a:t>
            </a:r>
            <a:r>
              <a:rPr lang="en-US" sz="49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&lt;</a:t>
            </a:r>
            <a:r>
              <a:rPr lang="en-US" sz="4900" dirty="0" err="1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br</a:t>
            </a:r>
            <a:r>
              <a:rPr lang="en-US" sz="4900" dirty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/&gt;</a:t>
            </a:r>
            <a:r>
              <a:rPr lang="en-US" sz="4900" dirty="0" smtClean="0">
                <a:solidFill>
                  <a:srgbClr val="DD0000"/>
                </a:solidFill>
                <a:latin typeface="Courier New"/>
                <a:ea typeface="Times New Roman"/>
                <a:cs typeface="Arial"/>
              </a:rPr>
              <a:t>"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);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/>
            </a:r>
            <a:b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</a:b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$result 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= </a:t>
            </a:r>
            <a:r>
              <a:rPr lang="en-US" sz="4900" dirty="0" smtClean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$res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-&gt;</a:t>
            </a: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fetch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(</a:t>
            </a: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PDO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::</a:t>
            </a: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FETCH_OBJ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);</a:t>
            </a:r>
            <a:b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</a:b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print </a:t>
            </a:r>
            <a:r>
              <a:rPr lang="en-US" sz="4900" dirty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$result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-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&gt;</a:t>
            </a:r>
            <a:r>
              <a:rPr lang="en-US" sz="4900" dirty="0" smtClean="0">
                <a:solidFill>
                  <a:srgbClr val="0000BB"/>
                </a:solidFill>
                <a:latin typeface="Courier New"/>
                <a:ea typeface="Times New Roman"/>
                <a:cs typeface="Arial"/>
              </a:rPr>
              <a:t>name</a:t>
            </a:r>
            <a:r>
              <a:rPr lang="en-US" sz="4900" dirty="0" smtClean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>;</a:t>
            </a:r>
            <a: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  <a:t/>
            </a:r>
            <a:br>
              <a:rPr lang="en-US" sz="4900" dirty="0">
                <a:solidFill>
                  <a:srgbClr val="007700"/>
                </a:solidFill>
                <a:latin typeface="Courier New"/>
                <a:ea typeface="Times New Roman"/>
                <a:cs typeface="Arial"/>
              </a:rPr>
            </a:br>
            <a:r>
              <a:rPr lang="en-US" sz="4900" dirty="0" smtClean="0">
                <a:solidFill>
                  <a:srgbClr val="FF0000"/>
                </a:solidFill>
                <a:latin typeface="Courier New"/>
                <a:ea typeface="Times New Roman"/>
                <a:cs typeface="Arial"/>
              </a:rPr>
              <a:t>?&gt;</a:t>
            </a:r>
            <a:r>
              <a:rPr lang="en-US" sz="4900" dirty="0" smtClean="0">
                <a:solidFill>
                  <a:srgbClr val="000000"/>
                </a:solidFill>
                <a:latin typeface="Courier New"/>
                <a:ea typeface="Times New Roman"/>
                <a:cs typeface="Arial"/>
              </a:rPr>
              <a:t> </a:t>
            </a:r>
            <a:endParaRPr lang="en-US" sz="4900" dirty="0">
              <a:ea typeface="Calibri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844169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077200" cy="64476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The </a:t>
            </a:r>
            <a:r>
              <a:rPr lang="en-US" b="1" dirty="0">
                <a:solidFill>
                  <a:srgbClr val="00B0F0"/>
                </a:solidFill>
              </a:rPr>
              <a:t>prepare()</a:t>
            </a:r>
            <a:r>
              <a:rPr lang="en-US" b="1" dirty="0">
                <a:solidFill>
                  <a:srgbClr val="0070C0"/>
                </a:solidFill>
              </a:rPr>
              <a:t> method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534400" cy="5791201"/>
          </a:xfrm>
        </p:spPr>
        <p:txBody>
          <a:bodyPr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600" b="1" u="sng" dirty="0">
                <a:solidFill>
                  <a:srgbClr val="7030A0"/>
                </a:solidFill>
              </a:rPr>
              <a:t>Syntax </a:t>
            </a:r>
            <a:r>
              <a:rPr lang="en-US" sz="2600" b="1" u="sng" dirty="0" smtClean="0">
                <a:solidFill>
                  <a:srgbClr val="7030A0"/>
                </a:solidFill>
              </a:rPr>
              <a:t>:</a:t>
            </a:r>
            <a:r>
              <a:rPr lang="en-US" sz="2100" b="1" u="sng" dirty="0" smtClean="0">
                <a:solidFill>
                  <a:srgbClr val="7030A0"/>
                </a:solidFill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100" b="1" u="sng" dirty="0">
                <a:solidFill>
                  <a:srgbClr val="7030A0"/>
                </a:solidFill>
              </a:rPr>
              <a:t> </a:t>
            </a:r>
            <a:r>
              <a:rPr lang="en-US" sz="2400" dirty="0" err="1" smtClean="0">
                <a:solidFill>
                  <a:srgbClr val="00B050"/>
                </a:solidFill>
              </a:rPr>
              <a:t>PDOStatement</a:t>
            </a:r>
            <a:r>
              <a:rPr lang="en-US" sz="2400" dirty="0" smtClean="0">
                <a:solidFill>
                  <a:srgbClr val="00B050"/>
                </a:solidFill>
              </a:rPr>
              <a:t> </a:t>
            </a:r>
            <a:r>
              <a:rPr lang="en-US" sz="2400" dirty="0">
                <a:solidFill>
                  <a:srgbClr val="2411AF"/>
                </a:solidFill>
              </a:rPr>
              <a:t>PDO</a:t>
            </a:r>
            <a:r>
              <a:rPr lang="en-US" sz="3300" dirty="0"/>
              <a:t>::</a:t>
            </a:r>
            <a:r>
              <a:rPr lang="en-US" sz="3300" dirty="0">
                <a:solidFill>
                  <a:srgbClr val="0070C0"/>
                </a:solidFill>
              </a:rPr>
              <a:t>prepare </a:t>
            </a:r>
            <a:r>
              <a:rPr lang="en-US" sz="2400" dirty="0"/>
              <a:t>( string </a:t>
            </a:r>
            <a:r>
              <a:rPr lang="en-US" sz="2400" dirty="0" smtClean="0">
                <a:solidFill>
                  <a:srgbClr val="FF0000"/>
                </a:solidFill>
              </a:rPr>
              <a:t>$query</a:t>
            </a:r>
            <a:r>
              <a:rPr lang="en-US" sz="2400" dirty="0" smtClean="0"/>
              <a:t>[, </a:t>
            </a:r>
            <a:r>
              <a:rPr lang="en-US" sz="2400" dirty="0"/>
              <a:t>array </a:t>
            </a:r>
            <a:r>
              <a:rPr lang="en-US" sz="2400" dirty="0">
                <a:solidFill>
                  <a:srgbClr val="FF0000"/>
                </a:solidFill>
              </a:rPr>
              <a:t>$</a:t>
            </a:r>
            <a:r>
              <a:rPr lang="en-US" sz="2400" dirty="0" err="1">
                <a:solidFill>
                  <a:srgbClr val="FF0000"/>
                </a:solidFill>
              </a:rPr>
              <a:t>driver_options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= array() ] )</a:t>
            </a:r>
            <a:endParaRPr lang="en-US" sz="3300" dirty="0"/>
          </a:p>
          <a:p>
            <a:r>
              <a:rPr lang="en-US" dirty="0" smtClean="0"/>
              <a:t>A </a:t>
            </a:r>
            <a:r>
              <a:rPr lang="en-US" dirty="0">
                <a:solidFill>
                  <a:srgbClr val="2411AF"/>
                </a:solidFill>
              </a:rPr>
              <a:t>prepared</a:t>
            </a:r>
            <a:r>
              <a:rPr lang="en-US" dirty="0"/>
              <a:t> statement is </a:t>
            </a:r>
            <a:r>
              <a:rPr lang="en-US" dirty="0" smtClean="0"/>
              <a:t>used </a:t>
            </a:r>
            <a:r>
              <a:rPr lang="en-US" dirty="0"/>
              <a:t>to execute the </a:t>
            </a:r>
            <a:r>
              <a:rPr lang="en-US" dirty="0" smtClean="0">
                <a:solidFill>
                  <a:srgbClr val="FF0000"/>
                </a:solidFill>
              </a:rPr>
              <a:t>SQL </a:t>
            </a:r>
            <a:r>
              <a:rPr lang="en-US" dirty="0" smtClean="0"/>
              <a:t> </a:t>
            </a:r>
            <a:r>
              <a:rPr lang="en-US" dirty="0"/>
              <a:t>statements </a:t>
            </a:r>
            <a:r>
              <a:rPr lang="en-US" i="1" dirty="0">
                <a:solidFill>
                  <a:srgbClr val="00B050"/>
                </a:solidFill>
              </a:rPr>
              <a:t>repeatedly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/>
              <a:t>with </a:t>
            </a:r>
            <a:r>
              <a:rPr lang="en-US" dirty="0">
                <a:solidFill>
                  <a:srgbClr val="2411AF"/>
                </a:solidFill>
              </a:rPr>
              <a:t>high</a:t>
            </a:r>
            <a:r>
              <a:rPr lang="en-US" dirty="0"/>
              <a:t> </a:t>
            </a:r>
            <a:r>
              <a:rPr lang="en-US" dirty="0">
                <a:solidFill>
                  <a:srgbClr val="2411AF"/>
                </a:solidFill>
              </a:rPr>
              <a:t>efficiency</a:t>
            </a:r>
            <a:r>
              <a:rPr lang="en-US" dirty="0"/>
              <a:t>.</a:t>
            </a:r>
          </a:p>
          <a:p>
            <a:r>
              <a:rPr lang="en-US" dirty="0" smtClean="0"/>
              <a:t>It is basically works:</a:t>
            </a:r>
            <a:endParaRPr lang="en-US" dirty="0"/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Prepare</a:t>
            </a:r>
            <a:r>
              <a:rPr lang="en-US" dirty="0"/>
              <a:t>: An </a:t>
            </a:r>
            <a:r>
              <a:rPr lang="en-US" i="1" dirty="0">
                <a:solidFill>
                  <a:srgbClr val="FF0000"/>
                </a:solidFill>
              </a:rPr>
              <a:t>SQL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statement </a:t>
            </a:r>
            <a:r>
              <a:rPr lang="en-US" i="1" dirty="0">
                <a:solidFill>
                  <a:srgbClr val="FF0000"/>
                </a:solidFill>
              </a:rPr>
              <a:t>template</a:t>
            </a:r>
            <a:r>
              <a:rPr lang="en-US" dirty="0"/>
              <a:t> is </a:t>
            </a:r>
            <a:r>
              <a:rPr lang="en-US" dirty="0">
                <a:solidFill>
                  <a:srgbClr val="00B050"/>
                </a:solidFill>
              </a:rPr>
              <a:t>created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</a:rPr>
              <a:t>sent</a:t>
            </a:r>
            <a:r>
              <a:rPr lang="en-US" dirty="0"/>
              <a:t> to the </a:t>
            </a:r>
            <a:r>
              <a:rPr lang="en-US" dirty="0">
                <a:solidFill>
                  <a:srgbClr val="00B050"/>
                </a:solidFill>
              </a:rPr>
              <a:t>database</a:t>
            </a:r>
            <a:r>
              <a:rPr lang="en-US" dirty="0"/>
              <a:t>. Certain </a:t>
            </a:r>
            <a:r>
              <a:rPr lang="en-US" dirty="0">
                <a:solidFill>
                  <a:srgbClr val="FF0000"/>
                </a:solidFill>
              </a:rPr>
              <a:t>values</a:t>
            </a:r>
            <a:r>
              <a:rPr lang="en-US" dirty="0"/>
              <a:t> are </a:t>
            </a:r>
            <a:r>
              <a:rPr lang="en-US" dirty="0">
                <a:solidFill>
                  <a:srgbClr val="2411AF"/>
                </a:solidFill>
              </a:rPr>
              <a:t>left unspecified</a:t>
            </a:r>
            <a:r>
              <a:rPr lang="en-US" dirty="0"/>
              <a:t>, called </a:t>
            </a:r>
            <a:r>
              <a:rPr lang="en-US" i="1" dirty="0">
                <a:solidFill>
                  <a:srgbClr val="FF0000"/>
                </a:solidFill>
              </a:rPr>
              <a:t>parameters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(labeled "</a:t>
            </a:r>
            <a:r>
              <a:rPr lang="en-US" b="1" dirty="0">
                <a:solidFill>
                  <a:srgbClr val="2411AF"/>
                </a:solidFill>
              </a:rPr>
              <a:t>?</a:t>
            </a:r>
            <a:r>
              <a:rPr lang="en-US" dirty="0"/>
              <a:t>"). </a:t>
            </a:r>
            <a:endParaRPr lang="en-US" dirty="0" smtClean="0"/>
          </a:p>
          <a:p>
            <a:pPr marL="0" lvl="0" indent="0">
              <a:buNone/>
            </a:pPr>
            <a:r>
              <a:rPr lang="en-US" dirty="0" smtClean="0">
                <a:solidFill>
                  <a:srgbClr val="7030A0"/>
                </a:solidFill>
              </a:rPr>
              <a:t>         Example</a:t>
            </a:r>
            <a:r>
              <a:rPr lang="en-US" dirty="0" smtClean="0"/>
              <a:t>:      $</a:t>
            </a:r>
            <a:r>
              <a:rPr lang="en-US" dirty="0" err="1" smtClean="0"/>
              <a:t>sql</a:t>
            </a:r>
            <a:r>
              <a:rPr lang="en-US" dirty="0" smtClean="0"/>
              <a:t>=" </a:t>
            </a:r>
            <a:r>
              <a:rPr lang="en-US" dirty="0" smtClean="0">
                <a:solidFill>
                  <a:srgbClr val="C00000"/>
                </a:solidFill>
              </a:rPr>
              <a:t>INSERT </a:t>
            </a:r>
            <a:r>
              <a:rPr lang="en-US" dirty="0">
                <a:solidFill>
                  <a:srgbClr val="C00000"/>
                </a:solidFill>
              </a:rPr>
              <a:t>INTO </a:t>
            </a:r>
            <a:r>
              <a:rPr lang="en-US" dirty="0" smtClean="0">
                <a:solidFill>
                  <a:srgbClr val="C00000"/>
                </a:solidFill>
              </a:rPr>
              <a:t>info  VALUES  (?, </a:t>
            </a:r>
            <a:r>
              <a:rPr lang="en-US" dirty="0">
                <a:solidFill>
                  <a:srgbClr val="C00000"/>
                </a:solidFill>
              </a:rPr>
              <a:t>?, </a:t>
            </a:r>
            <a:r>
              <a:rPr lang="en-US" dirty="0" smtClean="0">
                <a:solidFill>
                  <a:srgbClr val="C00000"/>
                </a:solidFill>
              </a:rPr>
              <a:t>?)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dirty="0"/>
              <a:t>"</a:t>
            </a:r>
            <a:r>
              <a:rPr lang="en-US" dirty="0" smtClean="0"/>
              <a:t>;</a:t>
            </a:r>
            <a:endParaRPr lang="en-US" dirty="0"/>
          </a:p>
          <a:p>
            <a:pPr lvl="1"/>
            <a:r>
              <a:rPr lang="en-US" dirty="0"/>
              <a:t>The </a:t>
            </a:r>
            <a:r>
              <a:rPr lang="en-US" i="1" dirty="0">
                <a:solidFill>
                  <a:srgbClr val="2411AF"/>
                </a:solidFill>
              </a:rPr>
              <a:t>database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i="1" dirty="0">
                <a:solidFill>
                  <a:srgbClr val="2411AF"/>
                </a:solidFill>
              </a:rPr>
              <a:t>parses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compiles</a:t>
            </a:r>
            <a:r>
              <a:rPr lang="en-US" dirty="0"/>
              <a:t>, and </a:t>
            </a:r>
            <a:r>
              <a:rPr lang="en-US" dirty="0">
                <a:solidFill>
                  <a:srgbClr val="00B050"/>
                </a:solidFill>
              </a:rPr>
              <a:t>performs</a:t>
            </a:r>
            <a:r>
              <a:rPr lang="en-US" dirty="0"/>
              <a:t> </a:t>
            </a:r>
            <a:r>
              <a:rPr lang="en-US" i="1" dirty="0">
                <a:solidFill>
                  <a:srgbClr val="FF0000"/>
                </a:solidFill>
              </a:rPr>
              <a:t>query</a:t>
            </a:r>
            <a:r>
              <a:rPr lang="en-US" dirty="0"/>
              <a:t> optimization on the </a:t>
            </a:r>
            <a:r>
              <a:rPr lang="en-US" i="1" dirty="0">
                <a:solidFill>
                  <a:srgbClr val="FF0000"/>
                </a:solidFill>
              </a:rPr>
              <a:t>SQL statement template</a:t>
            </a:r>
            <a:r>
              <a:rPr lang="en-US" dirty="0"/>
              <a:t>, and </a:t>
            </a:r>
            <a:r>
              <a:rPr lang="en-US" dirty="0">
                <a:solidFill>
                  <a:srgbClr val="00B050"/>
                </a:solidFill>
              </a:rPr>
              <a:t>stores</a:t>
            </a:r>
            <a:r>
              <a:rPr lang="en-US" dirty="0"/>
              <a:t> the </a:t>
            </a:r>
            <a:r>
              <a:rPr lang="en-US" i="1" dirty="0">
                <a:solidFill>
                  <a:srgbClr val="FF0000"/>
                </a:solidFill>
              </a:rPr>
              <a:t>result</a:t>
            </a:r>
            <a:r>
              <a:rPr lang="en-US" dirty="0"/>
              <a:t> </a:t>
            </a:r>
            <a:r>
              <a:rPr lang="en-US" i="1" dirty="0">
                <a:solidFill>
                  <a:srgbClr val="2411AF"/>
                </a:solidFill>
              </a:rPr>
              <a:t>without</a:t>
            </a:r>
            <a:r>
              <a:rPr lang="en-US" dirty="0"/>
              <a:t> </a:t>
            </a:r>
            <a:r>
              <a:rPr lang="en-US" dirty="0">
                <a:solidFill>
                  <a:srgbClr val="00B050"/>
                </a:solidFill>
              </a:rPr>
              <a:t>executing</a:t>
            </a:r>
            <a:r>
              <a:rPr lang="en-US" dirty="0"/>
              <a:t> </a:t>
            </a:r>
            <a:r>
              <a:rPr lang="en-US" dirty="0" smtClean="0"/>
              <a:t>it.</a:t>
            </a:r>
            <a:endParaRPr lang="en-US" dirty="0"/>
          </a:p>
          <a:p>
            <a:pPr lvl="1"/>
            <a:r>
              <a:rPr lang="en-US" b="1" dirty="0">
                <a:solidFill>
                  <a:srgbClr val="0070C0"/>
                </a:solidFill>
              </a:rPr>
              <a:t>Execute</a:t>
            </a:r>
            <a:r>
              <a:rPr lang="en-US" dirty="0" smtClean="0"/>
              <a:t>:       to execute the </a:t>
            </a:r>
            <a:r>
              <a:rPr lang="en-US" i="1" dirty="0" smtClean="0">
                <a:solidFill>
                  <a:srgbClr val="FF0000"/>
                </a:solidFill>
              </a:rPr>
              <a:t>query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we used </a:t>
            </a:r>
            <a:r>
              <a:rPr lang="en-US" dirty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execute</a:t>
            </a:r>
            <a:r>
              <a:rPr lang="en-US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() statement </a:t>
            </a:r>
            <a:r>
              <a:rPr lang="en-US" dirty="0" smtClean="0"/>
              <a:t>, then the </a:t>
            </a:r>
            <a:r>
              <a:rPr lang="en-US" i="1" dirty="0">
                <a:solidFill>
                  <a:srgbClr val="2411AF"/>
                </a:solidFill>
              </a:rPr>
              <a:t>application</a:t>
            </a:r>
            <a:r>
              <a:rPr lang="en-US" dirty="0">
                <a:solidFill>
                  <a:srgbClr val="2411AF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binds</a:t>
            </a:r>
            <a:r>
              <a:rPr lang="en-US" dirty="0"/>
              <a:t> the </a:t>
            </a:r>
            <a:r>
              <a:rPr lang="en-US" i="1" dirty="0">
                <a:solidFill>
                  <a:srgbClr val="FF0000"/>
                </a:solidFill>
              </a:rPr>
              <a:t>values</a:t>
            </a:r>
            <a:r>
              <a:rPr lang="en-US" dirty="0"/>
              <a:t> to the </a:t>
            </a:r>
            <a:r>
              <a:rPr lang="en-US" i="1" dirty="0">
                <a:solidFill>
                  <a:srgbClr val="FF0000"/>
                </a:solidFill>
              </a:rPr>
              <a:t>parameters</a:t>
            </a:r>
            <a:r>
              <a:rPr lang="en-US" dirty="0"/>
              <a:t>, and the </a:t>
            </a:r>
            <a:r>
              <a:rPr lang="en-US" i="1" dirty="0">
                <a:solidFill>
                  <a:srgbClr val="2411AF"/>
                </a:solidFill>
              </a:rPr>
              <a:t>database</a:t>
            </a:r>
            <a:r>
              <a:rPr lang="en-US" dirty="0">
                <a:solidFill>
                  <a:srgbClr val="2411AF"/>
                </a:solidFill>
              </a:rPr>
              <a:t> </a:t>
            </a:r>
            <a:r>
              <a:rPr lang="en-US" dirty="0"/>
              <a:t>executes the </a:t>
            </a:r>
            <a:r>
              <a:rPr lang="en-US" i="1" dirty="0" smtClean="0">
                <a:solidFill>
                  <a:srgbClr val="FF0000"/>
                </a:solidFill>
              </a:rPr>
              <a:t>query</a:t>
            </a:r>
            <a:r>
              <a:rPr lang="en-US" dirty="0" smtClean="0"/>
              <a:t>. </a:t>
            </a:r>
            <a:r>
              <a:rPr lang="en-US" dirty="0"/>
              <a:t>The </a:t>
            </a:r>
            <a:r>
              <a:rPr lang="en-US" i="1" dirty="0">
                <a:solidFill>
                  <a:srgbClr val="2411AF"/>
                </a:solidFill>
              </a:rPr>
              <a:t>application</a:t>
            </a:r>
            <a:r>
              <a:rPr lang="en-US" dirty="0">
                <a:solidFill>
                  <a:srgbClr val="2411AF"/>
                </a:solidFill>
              </a:rPr>
              <a:t> </a:t>
            </a:r>
            <a:r>
              <a:rPr lang="en-US" b="1" u="sng" dirty="0" smtClean="0">
                <a:solidFill>
                  <a:srgbClr val="00B050"/>
                </a:solidFill>
              </a:rPr>
              <a:t>can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00B050"/>
                </a:solidFill>
              </a:rPr>
              <a:t>execute</a:t>
            </a:r>
            <a:r>
              <a:rPr lang="en-US" dirty="0" smtClean="0"/>
              <a:t> </a:t>
            </a:r>
            <a:r>
              <a:rPr lang="en-US" dirty="0"/>
              <a:t>the </a:t>
            </a:r>
            <a:r>
              <a:rPr lang="en-US" i="1" dirty="0" smtClean="0">
                <a:solidFill>
                  <a:srgbClr val="FF0000"/>
                </a:solidFill>
              </a:rPr>
              <a:t>query</a:t>
            </a:r>
            <a:r>
              <a:rPr lang="en-US" dirty="0" smtClean="0"/>
              <a:t>  </a:t>
            </a:r>
            <a:r>
              <a:rPr lang="en-US" dirty="0">
                <a:solidFill>
                  <a:srgbClr val="2411AF"/>
                </a:solidFill>
              </a:rPr>
              <a:t>many</a:t>
            </a:r>
            <a:r>
              <a:rPr lang="en-US" dirty="0"/>
              <a:t> </a:t>
            </a:r>
            <a:r>
              <a:rPr lang="en-US" dirty="0">
                <a:solidFill>
                  <a:srgbClr val="2411AF"/>
                </a:solidFill>
              </a:rPr>
              <a:t>times </a:t>
            </a:r>
            <a:r>
              <a:rPr lang="en-US" dirty="0" smtClean="0"/>
              <a:t> </a:t>
            </a:r>
            <a:r>
              <a:rPr lang="en-US" dirty="0"/>
              <a:t>with different </a:t>
            </a:r>
            <a:r>
              <a:rPr lang="en-US" i="1" dirty="0" smtClean="0">
                <a:solidFill>
                  <a:srgbClr val="FF0000"/>
                </a:solidFill>
              </a:rPr>
              <a:t>values.</a:t>
            </a:r>
            <a:endParaRPr lang="en-US" i="1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332913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80772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</a:rPr>
              <a:t>The </a:t>
            </a:r>
            <a:r>
              <a:rPr lang="en-US" sz="3200" b="1" dirty="0" smtClean="0">
                <a:solidFill>
                  <a:srgbClr val="00B0F0"/>
                </a:solidFill>
              </a:rPr>
              <a:t>prepare()</a:t>
            </a:r>
            <a:r>
              <a:rPr lang="en-US" sz="3200" b="1" dirty="0" smtClean="0">
                <a:solidFill>
                  <a:srgbClr val="0070C0"/>
                </a:solidFill>
              </a:rPr>
              <a:t> Example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534400" cy="6248400"/>
          </a:xfrm>
        </p:spPr>
        <p:txBody>
          <a:bodyPr>
            <a:noAutofit/>
          </a:bodyPr>
          <a:lstStyle/>
          <a:p>
            <a:pPr marL="0" marR="0">
              <a:spcBef>
                <a:spcPts val="0"/>
              </a:spcBef>
            </a:pPr>
            <a:r>
              <a:rPr lang="en-US" sz="2000" u="sng" dirty="0" smtClean="0">
                <a:solidFill>
                  <a:srgbClr val="7030A0"/>
                </a:solidFill>
                <a:latin typeface="Segoe UI"/>
                <a:ea typeface="Times New Roman"/>
                <a:cs typeface="Arial"/>
              </a:rPr>
              <a:t>Example :  </a:t>
            </a:r>
            <a:r>
              <a:rPr lang="en-US" sz="2000" dirty="0" smtClean="0">
                <a:solidFill>
                  <a:srgbClr val="00B0F0"/>
                </a:solidFill>
              </a:rPr>
              <a:t>Get    </a:t>
            </a:r>
            <a:r>
              <a:rPr lang="en-US" sz="2000" dirty="0" smtClean="0"/>
              <a:t>all users  information  from  </a:t>
            </a:r>
            <a:r>
              <a:rPr lang="en-US" sz="2000" dirty="0" smtClean="0">
                <a:solidFill>
                  <a:srgbClr val="FFC000"/>
                </a:solidFill>
              </a:rPr>
              <a:t>info</a:t>
            </a:r>
            <a:r>
              <a:rPr lang="en-US" sz="2000" dirty="0" smtClean="0"/>
              <a:t> table using </a:t>
            </a:r>
            <a:r>
              <a:rPr lang="en-US" sz="2000" dirty="0" smtClean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prepare</a:t>
            </a:r>
            <a:r>
              <a:rPr lang="en-US" sz="2000" dirty="0" smtClean="0">
                <a:solidFill>
                  <a:srgbClr val="0070C0"/>
                </a:solidFill>
              </a:rPr>
              <a:t>()</a:t>
            </a:r>
            <a:r>
              <a:rPr lang="en-US" sz="2000" dirty="0" smtClean="0"/>
              <a:t> .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servername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= 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localhost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 $user 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= 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"username"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$password = 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"password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 $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dbname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= 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myDBPDO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 smtClean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try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{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6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conn = </a:t>
            </a:r>
            <a:r>
              <a:rPr lang="en-US" sz="1600" dirty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PDO(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mysql:host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=$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servername;dbname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=$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dbname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, $</a:t>
            </a:r>
            <a:r>
              <a:rPr lang="en-US" sz="16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user, 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$password);</a:t>
            </a:r>
            <a:b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   </a:t>
            </a:r>
            <a:r>
              <a:rPr lang="en-US" sz="17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$conn-&gt;</a:t>
            </a:r>
            <a:r>
              <a:rPr lang="en-US" sz="1700" dirty="0" err="1" smtClean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setAttribute</a:t>
            </a:r>
            <a:r>
              <a:rPr lang="en-US" sz="1700" dirty="0" smtClean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 </a:t>
            </a:r>
            <a:r>
              <a:rPr lang="en-US" sz="17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</a:t>
            </a:r>
            <a:r>
              <a:rPr lang="en-US" sz="17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PDO::ATTR_ERRMODE, PDO::ERRMODE_EXCEPTION);</a:t>
            </a:r>
            <a:br>
              <a:rPr lang="en-US" sz="17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   $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stmt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= $conn-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&gt;</a:t>
            </a:r>
            <a:r>
              <a:rPr lang="en-US" sz="1800" dirty="0" smtClean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prepare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(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SELECT id, 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name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, 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age 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FROM 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info"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);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   $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stmt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-&gt;</a:t>
            </a:r>
            <a:r>
              <a:rPr lang="en-US" sz="1800" dirty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execute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();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    while($row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=$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stmt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-&gt;</a:t>
            </a:r>
            <a:r>
              <a:rPr lang="en-US" sz="1800" dirty="0" smtClean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fetch 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PDO::FETCH_OBJ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)) {</a:t>
            </a:r>
            <a:endParaRPr lang="en-US" sz="1800" dirty="0">
              <a:solidFill>
                <a:srgbClr val="000000"/>
              </a:solidFill>
              <a:latin typeface="Consolas"/>
              <a:ea typeface="Calibri"/>
              <a:cs typeface="Arial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echo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$row</a:t>
            </a:r>
            <a:r>
              <a:rPr lang="en-US" sz="1800" b="1" dirty="0">
                <a:solidFill>
                  <a:srgbClr val="2411AF"/>
                </a:solidFill>
                <a:latin typeface="Consolas"/>
                <a:ea typeface="Calibri"/>
                <a:cs typeface="Arial"/>
              </a:rPr>
              <a:t>-</a:t>
            </a:r>
            <a:r>
              <a:rPr lang="en-US" sz="1800" b="1" dirty="0" smtClean="0">
                <a:solidFill>
                  <a:srgbClr val="2411AF"/>
                </a:solidFill>
                <a:latin typeface="Consolas"/>
                <a:ea typeface="Calibri"/>
                <a:cs typeface="Arial"/>
              </a:rPr>
              <a:t>&gt;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id," 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-- ",$row</a:t>
            </a:r>
            <a:r>
              <a:rPr lang="en-US" sz="1800" dirty="0">
                <a:solidFill>
                  <a:srgbClr val="2411AF"/>
                </a:solidFill>
                <a:latin typeface="Consolas"/>
                <a:ea typeface="Calibri"/>
                <a:cs typeface="Arial"/>
              </a:rPr>
              <a:t>-</a:t>
            </a:r>
            <a:r>
              <a:rPr lang="en-US" sz="1800" dirty="0" smtClean="0">
                <a:solidFill>
                  <a:srgbClr val="2411AF"/>
                </a:solidFill>
                <a:latin typeface="Consolas"/>
                <a:ea typeface="Calibri"/>
                <a:cs typeface="Arial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n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ame 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," -- ", $row</a:t>
            </a:r>
            <a:r>
              <a:rPr lang="en-US" sz="1800" dirty="0">
                <a:solidFill>
                  <a:srgbClr val="2411AF"/>
                </a:solidFill>
                <a:latin typeface="Consolas"/>
                <a:ea typeface="Calibri"/>
                <a:cs typeface="Arial"/>
              </a:rPr>
              <a:t>-</a:t>
            </a:r>
            <a:r>
              <a:rPr lang="en-US" sz="1800" dirty="0" smtClean="0">
                <a:solidFill>
                  <a:srgbClr val="2411AF"/>
                </a:solidFill>
                <a:latin typeface="Consolas"/>
                <a:ea typeface="Calibri"/>
                <a:cs typeface="Arial"/>
              </a:rPr>
              <a:t>&gt;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age,"&lt;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br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/&gt;"; }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   }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catch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PDOException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$e) {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   </a:t>
            </a:r>
            <a:r>
              <a:rPr lang="en-US" sz="1800" dirty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echo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"Error: "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. $e-&gt;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getMessage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();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}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$conn = null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    </a:t>
            </a:r>
            <a:r>
              <a:rPr lang="en-US" sz="1800" dirty="0" smtClean="0">
                <a:solidFill>
                  <a:srgbClr val="FF0000"/>
                </a:solidFill>
                <a:latin typeface="Consolas"/>
                <a:ea typeface="Calibri"/>
                <a:cs typeface="Arial"/>
              </a:rPr>
              <a:t>?&gt;</a:t>
            </a:r>
            <a:endParaRPr lang="en-US" sz="1800" dirty="0">
              <a:ea typeface="Calibri"/>
              <a:cs typeface="Arial"/>
            </a:endParaRPr>
          </a:p>
          <a:p>
            <a:pPr marL="0" marR="0">
              <a:spcBef>
                <a:spcPts val="0"/>
              </a:spcBef>
            </a:pPr>
            <a:endParaRPr lang="en-US" sz="1800" u="sng" dirty="0"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2984015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80772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</a:rPr>
              <a:t>The </a:t>
            </a:r>
            <a:r>
              <a:rPr lang="en-US" sz="3200" b="1" dirty="0" smtClean="0">
                <a:solidFill>
                  <a:srgbClr val="00B0F0"/>
                </a:solidFill>
              </a:rPr>
              <a:t>execute()</a:t>
            </a:r>
            <a:r>
              <a:rPr lang="en-US" sz="3200" b="1" dirty="0" smtClean="0">
                <a:solidFill>
                  <a:srgbClr val="0070C0"/>
                </a:solidFill>
              </a:rPr>
              <a:t> Method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534400" cy="6248400"/>
          </a:xfrm>
        </p:spPr>
        <p:txBody>
          <a:bodyPr>
            <a:noAutofit/>
          </a:bodyPr>
          <a:lstStyle/>
          <a:p>
            <a:pPr marL="0" marR="0">
              <a:spcBef>
                <a:spcPts val="0"/>
              </a:spcBef>
            </a:pPr>
            <a:r>
              <a:rPr lang="en-US" sz="2000" b="1" u="sng" dirty="0">
                <a:solidFill>
                  <a:srgbClr val="7030A0"/>
                </a:solidFill>
              </a:rPr>
              <a:t>Syntax </a:t>
            </a:r>
            <a:r>
              <a:rPr lang="en-US" sz="2000" b="1" u="sng" dirty="0" smtClean="0">
                <a:solidFill>
                  <a:srgbClr val="7030A0"/>
                </a:solidFill>
              </a:rPr>
              <a:t>: </a:t>
            </a:r>
            <a:r>
              <a:rPr lang="en-US" sz="2000" dirty="0" err="1" smtClean="0">
                <a:solidFill>
                  <a:srgbClr val="00B050"/>
                </a:solidFill>
              </a:rPr>
              <a:t>boolean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>
                <a:solidFill>
                  <a:srgbClr val="2411AF"/>
                </a:solidFill>
              </a:rPr>
              <a:t>PDOStatement</a:t>
            </a:r>
            <a:r>
              <a:rPr lang="en-US" sz="2000" dirty="0"/>
              <a:t>::</a:t>
            </a:r>
            <a:r>
              <a:rPr lang="en-US" sz="2000" dirty="0">
                <a:solidFill>
                  <a:srgbClr val="0070C0"/>
                </a:solidFill>
              </a:rPr>
              <a:t>execute</a:t>
            </a:r>
            <a:r>
              <a:rPr lang="en-US" sz="2000" dirty="0"/>
              <a:t> ([array </a:t>
            </a:r>
            <a:r>
              <a:rPr lang="en-US" sz="2000" i="1" dirty="0" err="1">
                <a:solidFill>
                  <a:srgbClr val="FF0000"/>
                </a:solidFill>
              </a:rPr>
              <a:t>input_parameters</a:t>
            </a:r>
            <a:r>
              <a:rPr lang="en-US" sz="2000" dirty="0" smtClean="0"/>
              <a:t>])</a:t>
            </a:r>
          </a:p>
          <a:p>
            <a:r>
              <a:rPr lang="en-US" sz="2000" dirty="0" smtClean="0"/>
              <a:t>It is responsible </a:t>
            </a:r>
            <a:r>
              <a:rPr lang="en-US" sz="2000" dirty="0"/>
              <a:t>for </a:t>
            </a:r>
            <a:r>
              <a:rPr lang="en-US" sz="2000" dirty="0">
                <a:solidFill>
                  <a:srgbClr val="00B050"/>
                </a:solidFill>
              </a:rPr>
              <a:t>executing</a:t>
            </a:r>
            <a:r>
              <a:rPr lang="en-US" sz="2000" dirty="0"/>
              <a:t> a </a:t>
            </a:r>
            <a:r>
              <a:rPr lang="en-US" sz="2000" i="1" dirty="0">
                <a:solidFill>
                  <a:srgbClr val="0070C0"/>
                </a:solidFill>
              </a:rPr>
              <a:t>prepared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0000"/>
                </a:solidFill>
              </a:rPr>
              <a:t>query</a:t>
            </a:r>
            <a:r>
              <a:rPr lang="en-US" sz="2000" dirty="0"/>
              <a:t>. </a:t>
            </a:r>
            <a:endParaRPr lang="en-US" sz="2000" dirty="0" smtClean="0"/>
          </a:p>
          <a:p>
            <a:r>
              <a:rPr lang="en-US" sz="2000" dirty="0" smtClean="0"/>
              <a:t>It  </a:t>
            </a:r>
            <a:r>
              <a:rPr lang="en-US" sz="2000" i="1" dirty="0">
                <a:solidFill>
                  <a:srgbClr val="00B050"/>
                </a:solidFill>
              </a:rPr>
              <a:t>requires</a:t>
            </a:r>
            <a:r>
              <a:rPr lang="en-US" sz="2000" dirty="0"/>
              <a:t> </a:t>
            </a:r>
            <a:r>
              <a:rPr lang="en-US" sz="2000" dirty="0" smtClean="0"/>
              <a:t>the </a:t>
            </a:r>
            <a:r>
              <a:rPr lang="en-US" sz="2000" i="1" dirty="0" smtClean="0">
                <a:solidFill>
                  <a:srgbClr val="FF0000"/>
                </a:solidFill>
              </a:rPr>
              <a:t>input</a:t>
            </a:r>
            <a:r>
              <a:rPr lang="en-US" sz="2000" dirty="0" smtClean="0"/>
              <a:t> </a:t>
            </a:r>
            <a:r>
              <a:rPr lang="en-US" sz="2000" dirty="0"/>
              <a:t>parameters that should be </a:t>
            </a:r>
            <a:r>
              <a:rPr lang="en-US" sz="2000" dirty="0">
                <a:solidFill>
                  <a:srgbClr val="00B050"/>
                </a:solidFill>
              </a:rPr>
              <a:t>substituted</a:t>
            </a:r>
            <a:r>
              <a:rPr lang="en-US" sz="2000" dirty="0"/>
              <a:t> with each </a:t>
            </a:r>
            <a:r>
              <a:rPr lang="en-US" sz="2000" dirty="0">
                <a:solidFill>
                  <a:srgbClr val="2411AF"/>
                </a:solidFill>
              </a:rPr>
              <a:t>iterative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</a:rPr>
              <a:t>execution</a:t>
            </a:r>
            <a:r>
              <a:rPr lang="en-US" sz="2000" dirty="0"/>
              <a:t>.</a:t>
            </a:r>
            <a:endParaRPr lang="en-US" sz="2000" u="sng" dirty="0" smtClean="0">
              <a:solidFill>
                <a:srgbClr val="7030A0"/>
              </a:solidFill>
              <a:latin typeface="Segoe UI"/>
              <a:ea typeface="Times New Roman"/>
              <a:cs typeface="Arial"/>
            </a:endParaRPr>
          </a:p>
          <a:p>
            <a:pPr marL="0" marR="0">
              <a:spcBef>
                <a:spcPts val="0"/>
              </a:spcBef>
            </a:pPr>
            <a:r>
              <a:rPr lang="en-US" sz="2000" u="sng" dirty="0" smtClean="0">
                <a:solidFill>
                  <a:srgbClr val="7030A0"/>
                </a:solidFill>
                <a:latin typeface="Segoe UI"/>
                <a:ea typeface="Times New Roman"/>
                <a:cs typeface="Arial"/>
              </a:rPr>
              <a:t>Example :  </a:t>
            </a:r>
            <a:r>
              <a:rPr lang="en-US" sz="2000" dirty="0" smtClean="0">
                <a:solidFill>
                  <a:srgbClr val="00B0F0"/>
                </a:solidFill>
              </a:rPr>
              <a:t>Get    </a:t>
            </a:r>
            <a:r>
              <a:rPr lang="en-US" sz="2000" dirty="0" smtClean="0"/>
              <a:t>all users  information  from  </a:t>
            </a:r>
            <a:r>
              <a:rPr lang="en-US" sz="2000" dirty="0" smtClean="0">
                <a:solidFill>
                  <a:srgbClr val="FFC000"/>
                </a:solidFill>
              </a:rPr>
              <a:t>info</a:t>
            </a:r>
            <a:r>
              <a:rPr lang="en-US" sz="2000" dirty="0" smtClean="0"/>
              <a:t> table  .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servername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= 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localhost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 $user 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= 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"username"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$password = 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"password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 $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dbname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= 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myDBPDO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 smtClean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try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{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6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conn = </a:t>
            </a:r>
            <a:r>
              <a:rPr lang="en-US" sz="1600" dirty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PDO(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mysql:host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=$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servername;dbname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=$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dbname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, $</a:t>
            </a:r>
            <a:r>
              <a:rPr lang="en-US" sz="16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user, 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$password);</a:t>
            </a:r>
            <a:br>
              <a:rPr lang="en-US" sz="16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   </a:t>
            </a:r>
            <a:r>
              <a:rPr lang="en-US" sz="17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$conn-&gt;</a:t>
            </a:r>
            <a:r>
              <a:rPr lang="en-US" sz="1700" dirty="0" err="1" smtClean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setAttribute</a:t>
            </a:r>
            <a:r>
              <a:rPr lang="en-US" sz="1700" dirty="0" smtClean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 </a:t>
            </a:r>
            <a:r>
              <a:rPr lang="en-US" sz="17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</a:t>
            </a:r>
            <a:r>
              <a:rPr lang="en-US" sz="17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PDO::ATTR_ERRMODE, PDO::ERRMODE_EXCEPTION);</a:t>
            </a:r>
            <a:br>
              <a:rPr lang="en-US" sz="17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stmt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= $conn-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&gt;</a:t>
            </a:r>
            <a:r>
              <a:rPr lang="en-US" sz="1800" dirty="0" smtClean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prepare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(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SELECT id, 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name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, 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gender 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FROM 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info where gender=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':</a:t>
            </a:r>
            <a:r>
              <a:rPr lang="en-US" sz="1800" dirty="0" err="1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gend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' and name like ‘:</a:t>
            </a:r>
            <a:r>
              <a:rPr lang="en-US" sz="1800" dirty="0" err="1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na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'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);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   $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stmt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-&gt;</a:t>
            </a:r>
            <a:r>
              <a:rPr lang="en-US" sz="1800" dirty="0" smtClean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execute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(array(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‘:</a:t>
            </a:r>
            <a:r>
              <a:rPr lang="en-US" sz="1800" dirty="0" err="1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gend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'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=&gt;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'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male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',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 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‘:</a:t>
            </a:r>
            <a:r>
              <a:rPr lang="en-US" sz="1800" dirty="0" err="1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na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'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= 'a%'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 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));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    while($row=$rows-&gt;</a:t>
            </a:r>
            <a:r>
              <a:rPr lang="en-US" sz="1800" dirty="0" smtClean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fetch 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PDO::FETCH_OBJ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)) {</a:t>
            </a:r>
            <a:endParaRPr lang="en-US" sz="1800" dirty="0">
              <a:solidFill>
                <a:srgbClr val="000000"/>
              </a:solidFill>
              <a:latin typeface="Consolas"/>
              <a:ea typeface="Calibri"/>
              <a:cs typeface="Arial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</a:t>
            </a:r>
            <a:r>
              <a:rPr lang="en-US" sz="1800" dirty="0">
                <a:solidFill>
                  <a:srgbClr val="0070C0"/>
                </a:solidFill>
                <a:latin typeface="Consolas"/>
                <a:ea typeface="Calibri"/>
                <a:cs typeface="Arial"/>
              </a:rPr>
              <a:t>echo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$row</a:t>
            </a:r>
            <a:r>
              <a:rPr lang="en-US" sz="1800" b="1" dirty="0">
                <a:solidFill>
                  <a:srgbClr val="2411AF"/>
                </a:solidFill>
                <a:latin typeface="Consolas"/>
                <a:ea typeface="Calibri"/>
                <a:cs typeface="Arial"/>
              </a:rPr>
              <a:t>-&gt;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no," -- ",$row</a:t>
            </a:r>
            <a:r>
              <a:rPr lang="en-US" sz="1800" dirty="0">
                <a:solidFill>
                  <a:srgbClr val="2411AF"/>
                </a:solidFill>
                <a:latin typeface="Consolas"/>
                <a:ea typeface="Calibri"/>
                <a:cs typeface="Arial"/>
              </a:rPr>
              <a:t>-&gt;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Name ," -- ", $row</a:t>
            </a:r>
            <a:r>
              <a:rPr lang="en-US" sz="1800" dirty="0">
                <a:solidFill>
                  <a:srgbClr val="2411AF"/>
                </a:solidFill>
                <a:latin typeface="Consolas"/>
                <a:ea typeface="Calibri"/>
                <a:cs typeface="Arial"/>
              </a:rPr>
              <a:t>-&gt;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Gender,"&lt;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br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/&gt;"; }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   }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catch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PDOException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 $e) {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   </a:t>
            </a:r>
            <a:r>
              <a:rPr lang="en-US" sz="1800" dirty="0">
                <a:solidFill>
                  <a:srgbClr val="0000CD"/>
                </a:solidFill>
                <a:latin typeface="Consolas"/>
                <a:ea typeface="Calibri"/>
                <a:cs typeface="Arial"/>
              </a:rPr>
              <a:t>echo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</a:t>
            </a:r>
            <a:r>
              <a:rPr lang="en-US" sz="1800" dirty="0">
                <a:solidFill>
                  <a:srgbClr val="A52A2A"/>
                </a:solidFill>
                <a:latin typeface="Consolas"/>
                <a:ea typeface="Calibri"/>
                <a:cs typeface="Arial"/>
              </a:rPr>
              <a:t>"Error: "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 . $e-&gt;</a:t>
            </a:r>
            <a:r>
              <a:rPr lang="en-US" sz="1800" dirty="0" err="1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getMessage</a:t>
            </a: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();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}</a:t>
            </a:r>
            <a:b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</a:br>
            <a:r>
              <a:rPr lang="en-US" sz="1800" dirty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$conn = null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Calibri"/>
                <a:cs typeface="Arial"/>
              </a:rPr>
              <a:t>;    </a:t>
            </a:r>
            <a:r>
              <a:rPr lang="en-US" sz="1800" dirty="0" smtClean="0">
                <a:solidFill>
                  <a:srgbClr val="FF0000"/>
                </a:solidFill>
                <a:latin typeface="Consolas"/>
                <a:ea typeface="Calibri"/>
                <a:cs typeface="Arial"/>
              </a:rPr>
              <a:t>?&gt;</a:t>
            </a:r>
            <a:endParaRPr lang="en-US" sz="1800" dirty="0">
              <a:ea typeface="Calibri"/>
              <a:cs typeface="Arial"/>
            </a:endParaRPr>
          </a:p>
          <a:p>
            <a:pPr marL="0" marR="0">
              <a:spcBef>
                <a:spcPts val="0"/>
              </a:spcBef>
            </a:pPr>
            <a:endParaRPr lang="en-US" sz="1800" u="sng" dirty="0"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214093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077200" cy="45720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Example: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33400"/>
            <a:ext cx="8458200" cy="6172199"/>
          </a:xfrm>
        </p:spPr>
        <p:txBody>
          <a:bodyPr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b="1" u="sng" dirty="0">
                <a:solidFill>
                  <a:srgbClr val="7030A0"/>
                </a:solidFill>
                <a:ea typeface="Calibri"/>
                <a:cs typeface="Arial"/>
              </a:rPr>
              <a:t>Example #2 </a:t>
            </a:r>
            <a:r>
              <a:rPr lang="en-US" sz="1800" b="1" dirty="0">
                <a:ea typeface="Calibri"/>
                <a:cs typeface="Arial"/>
              </a:rPr>
              <a:t>Fetching rows with a scrollable cursor   </a:t>
            </a:r>
            <a:r>
              <a:rPr lang="en-US" sz="1800" b="1" dirty="0" smtClean="0">
                <a:ea typeface="Calibri"/>
                <a:cs typeface="Arial"/>
              </a:rPr>
              <a:t>: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Forwards</a:t>
            </a:r>
            <a:endParaRPr lang="en-US" sz="1800" dirty="0">
              <a:ea typeface="Calibri"/>
              <a:cs typeface="Arial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dirty="0">
                <a:solidFill>
                  <a:srgbClr val="FF0000"/>
                </a:solidFill>
                <a:ea typeface="Calibri"/>
                <a:cs typeface="Arial"/>
              </a:rPr>
              <a:t>&lt;?</a:t>
            </a:r>
            <a:r>
              <a:rPr lang="en-US" sz="1800" dirty="0" err="1">
                <a:solidFill>
                  <a:srgbClr val="FF0000"/>
                </a:solidFill>
                <a:ea typeface="Calibri"/>
                <a:cs typeface="Arial"/>
              </a:rPr>
              <a:t>php</a:t>
            </a:r>
            <a:r>
              <a:rPr lang="en-US" sz="1800" dirty="0">
                <a:solidFill>
                  <a:srgbClr val="0000BB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00BB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function </a:t>
            </a:r>
            <a:r>
              <a:rPr lang="en-US" sz="1800" dirty="0" err="1" smtClean="0">
                <a:solidFill>
                  <a:srgbClr val="0000BB"/>
                </a:solidFill>
                <a:ea typeface="Calibri"/>
                <a:cs typeface="Arial"/>
              </a:rPr>
              <a:t>get_Data_Forwards</a:t>
            </a:r>
            <a:r>
              <a:rPr lang="en-US" sz="1800" dirty="0" smtClean="0">
                <a:solidFill>
                  <a:srgbClr val="007700"/>
                </a:solidFill>
                <a:ea typeface="Calibri"/>
                <a:cs typeface="Arial"/>
              </a:rPr>
              <a:t>(</a:t>
            </a:r>
            <a:r>
              <a:rPr lang="en-US" sz="1800" dirty="0" smtClean="0">
                <a:solidFill>
                  <a:srgbClr val="0000BB"/>
                </a:solidFill>
                <a:ea typeface="Calibri"/>
                <a:cs typeface="Arial"/>
              </a:rPr>
              <a:t>$con</a:t>
            </a:r>
            <a:r>
              <a:rPr lang="en-US" sz="1800" dirty="0" smtClean="0">
                <a:solidFill>
                  <a:srgbClr val="007700"/>
                </a:solidFill>
                <a:ea typeface="Calibri"/>
                <a:cs typeface="Arial"/>
              </a:rPr>
              <a:t>)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 {</a:t>
            </a: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$</a:t>
            </a:r>
            <a:r>
              <a:rPr lang="en-US" sz="1800" dirty="0" err="1">
                <a:solidFill>
                  <a:srgbClr val="0000BB"/>
                </a:solidFill>
                <a:ea typeface="Calibri"/>
                <a:cs typeface="Arial"/>
              </a:rPr>
              <a:t>sql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 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= </a:t>
            </a:r>
            <a:r>
              <a:rPr lang="en-US" sz="1600" dirty="0">
                <a:solidFill>
                  <a:srgbClr val="C00000"/>
                </a:solidFill>
                <a:latin typeface="Courier New"/>
                <a:ea typeface="Times New Roman"/>
                <a:cs typeface="Arial"/>
              </a:rPr>
              <a:t> </a:t>
            </a:r>
            <a:r>
              <a:rPr lang="en-US" sz="1600" dirty="0" smtClean="0">
                <a:solidFill>
                  <a:srgbClr val="C00000"/>
                </a:solidFill>
                <a:latin typeface="Courier New"/>
                <a:ea typeface="Times New Roman"/>
                <a:cs typeface="Arial"/>
              </a:rPr>
              <a:t>'SELECT</a:t>
            </a:r>
            <a:r>
              <a:rPr lang="en-US" sz="1600" dirty="0">
                <a:solidFill>
                  <a:srgbClr val="C00000"/>
                </a:solidFill>
                <a:latin typeface="Courier New"/>
                <a:ea typeface="Times New Roman"/>
                <a:cs typeface="Arial"/>
              </a:rPr>
              <a:t> name, gender, nationality FROM info </a:t>
            </a:r>
            <a:r>
              <a:rPr lang="en-US" sz="1800" dirty="0" smtClean="0">
                <a:solidFill>
                  <a:srgbClr val="DD0000"/>
                </a:solidFill>
                <a:ea typeface="Calibri"/>
                <a:cs typeface="Arial"/>
              </a:rPr>
              <a:t>'</a:t>
            </a:r>
            <a:r>
              <a:rPr lang="en-US" sz="1800" dirty="0" smtClean="0">
                <a:solidFill>
                  <a:srgbClr val="007700"/>
                </a:solidFill>
                <a:ea typeface="Calibri"/>
                <a:cs typeface="Arial"/>
              </a:rPr>
              <a:t>;</a:t>
            </a: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try {</a:t>
            </a:r>
            <a:b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</a:t>
            </a:r>
            <a:r>
              <a:rPr lang="en-US" sz="1800" dirty="0" smtClean="0">
                <a:solidFill>
                  <a:srgbClr val="0000BB"/>
                </a:solidFill>
                <a:ea typeface="Calibri"/>
                <a:cs typeface="Arial"/>
              </a:rPr>
              <a:t>$result </a:t>
            </a:r>
            <a:r>
              <a:rPr lang="en-US" sz="1800" dirty="0" smtClean="0">
                <a:solidFill>
                  <a:srgbClr val="007700"/>
                </a:solidFill>
                <a:ea typeface="Calibri"/>
                <a:cs typeface="Arial"/>
              </a:rPr>
              <a:t>=</a:t>
            </a:r>
            <a:r>
              <a:rPr lang="en-US" sz="1600" dirty="0">
                <a:solidFill>
                  <a:srgbClr val="007700"/>
                </a:solidFill>
                <a:ea typeface="Calibri"/>
                <a:cs typeface="Arial"/>
              </a:rPr>
              <a:t> </a:t>
            </a:r>
            <a:r>
              <a:rPr lang="en-US" sz="1600" dirty="0" smtClean="0">
                <a:solidFill>
                  <a:srgbClr val="0000BB"/>
                </a:solidFill>
                <a:ea typeface="Calibri"/>
                <a:cs typeface="Arial"/>
              </a:rPr>
              <a:t>$</a:t>
            </a:r>
            <a:r>
              <a:rPr lang="en-US" sz="1600" dirty="0">
                <a:solidFill>
                  <a:srgbClr val="0000BB"/>
                </a:solidFill>
                <a:ea typeface="Calibri"/>
                <a:cs typeface="Arial"/>
              </a:rPr>
              <a:t> con </a:t>
            </a:r>
            <a:r>
              <a:rPr lang="en-US" sz="1600" dirty="0" smtClean="0">
                <a:solidFill>
                  <a:srgbClr val="007700"/>
                </a:solidFill>
                <a:ea typeface="Calibri"/>
                <a:cs typeface="Arial"/>
              </a:rPr>
              <a:t>-&gt;</a:t>
            </a:r>
            <a:r>
              <a:rPr lang="en-US" sz="1600" dirty="0">
                <a:solidFill>
                  <a:srgbClr val="0000BB"/>
                </a:solidFill>
                <a:ea typeface="Calibri"/>
                <a:cs typeface="Arial"/>
              </a:rPr>
              <a:t>prepare</a:t>
            </a:r>
            <a:r>
              <a:rPr lang="en-US" sz="1600" dirty="0">
                <a:solidFill>
                  <a:srgbClr val="007700"/>
                </a:solidFill>
                <a:ea typeface="Calibri"/>
                <a:cs typeface="Arial"/>
              </a:rPr>
              <a:t>(</a:t>
            </a:r>
            <a:r>
              <a:rPr lang="en-US" sz="1600" dirty="0">
                <a:solidFill>
                  <a:srgbClr val="0000BB"/>
                </a:solidFill>
                <a:ea typeface="Calibri"/>
                <a:cs typeface="Arial"/>
              </a:rPr>
              <a:t>$</a:t>
            </a:r>
            <a:r>
              <a:rPr lang="en-US" sz="1600" dirty="0" err="1">
                <a:solidFill>
                  <a:srgbClr val="0000BB"/>
                </a:solidFill>
                <a:ea typeface="Calibri"/>
                <a:cs typeface="Arial"/>
              </a:rPr>
              <a:t>sql</a:t>
            </a:r>
            <a:r>
              <a:rPr lang="en-US" sz="1600" dirty="0">
                <a:solidFill>
                  <a:srgbClr val="007700"/>
                </a:solidFill>
                <a:ea typeface="Calibri"/>
                <a:cs typeface="Arial"/>
              </a:rPr>
              <a:t>, array(</a:t>
            </a:r>
            <a:r>
              <a:rPr lang="en-US" sz="1600" dirty="0">
                <a:solidFill>
                  <a:srgbClr val="0000BB"/>
                </a:solidFill>
                <a:ea typeface="Calibri"/>
                <a:cs typeface="Arial"/>
              </a:rPr>
              <a:t>PDO</a:t>
            </a:r>
            <a:r>
              <a:rPr lang="en-US" sz="1600" dirty="0">
                <a:solidFill>
                  <a:srgbClr val="007700"/>
                </a:solidFill>
                <a:ea typeface="Calibri"/>
                <a:cs typeface="Arial"/>
              </a:rPr>
              <a:t>::</a:t>
            </a:r>
            <a:r>
              <a:rPr lang="en-US" sz="1600" dirty="0">
                <a:solidFill>
                  <a:srgbClr val="0000BB"/>
                </a:solidFill>
                <a:ea typeface="Calibri"/>
                <a:cs typeface="Arial"/>
              </a:rPr>
              <a:t>ATTR_CURSOR </a:t>
            </a:r>
            <a:r>
              <a:rPr lang="en-US" sz="1600" dirty="0">
                <a:solidFill>
                  <a:srgbClr val="007700"/>
                </a:solidFill>
                <a:ea typeface="Calibri"/>
                <a:cs typeface="Arial"/>
              </a:rPr>
              <a:t>=&gt; </a:t>
            </a:r>
            <a:r>
              <a:rPr lang="en-US" sz="1600" dirty="0">
                <a:solidFill>
                  <a:srgbClr val="0000BB"/>
                </a:solidFill>
                <a:ea typeface="Calibri"/>
                <a:cs typeface="Arial"/>
              </a:rPr>
              <a:t>PDO</a:t>
            </a:r>
            <a:r>
              <a:rPr lang="en-US" sz="1600" dirty="0">
                <a:solidFill>
                  <a:srgbClr val="007700"/>
                </a:solidFill>
                <a:ea typeface="Calibri"/>
                <a:cs typeface="Arial"/>
              </a:rPr>
              <a:t>::</a:t>
            </a:r>
            <a:r>
              <a:rPr lang="en-US" sz="1600" dirty="0">
                <a:solidFill>
                  <a:srgbClr val="0000BB"/>
                </a:solidFill>
                <a:ea typeface="Calibri"/>
                <a:cs typeface="Arial"/>
              </a:rPr>
              <a:t>CURSOR_SCROLL</a:t>
            </a:r>
            <a:r>
              <a:rPr lang="en-US" sz="1600" dirty="0">
                <a:solidFill>
                  <a:srgbClr val="007700"/>
                </a:solidFill>
                <a:ea typeface="Calibri"/>
                <a:cs typeface="Arial"/>
              </a:rPr>
              <a:t>));</a:t>
            </a:r>
            <a:r>
              <a:rPr lang="en-US" sz="16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6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</a:t>
            </a:r>
            <a:r>
              <a:rPr lang="en-US" sz="1800" dirty="0" smtClean="0">
                <a:solidFill>
                  <a:srgbClr val="0000BB"/>
                </a:solidFill>
                <a:ea typeface="Calibri"/>
                <a:cs typeface="Arial"/>
              </a:rPr>
              <a:t>$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 result </a:t>
            </a:r>
            <a:r>
              <a:rPr lang="en-US" sz="1800" dirty="0" smtClean="0">
                <a:solidFill>
                  <a:srgbClr val="007700"/>
                </a:solidFill>
                <a:ea typeface="Calibri"/>
                <a:cs typeface="Arial"/>
              </a:rPr>
              <a:t>&gt;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execute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();</a:t>
            </a: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while (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$row 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= </a:t>
            </a:r>
            <a:r>
              <a:rPr lang="en-US" sz="1800" dirty="0" smtClean="0">
                <a:solidFill>
                  <a:srgbClr val="0000BB"/>
                </a:solidFill>
                <a:ea typeface="Calibri"/>
                <a:cs typeface="Arial"/>
              </a:rPr>
              <a:t>$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 result </a:t>
            </a:r>
            <a:r>
              <a:rPr lang="en-US" sz="1800" dirty="0" smtClean="0">
                <a:solidFill>
                  <a:srgbClr val="007700"/>
                </a:solidFill>
                <a:ea typeface="Calibri"/>
                <a:cs typeface="Arial"/>
              </a:rPr>
              <a:t>&gt;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fetch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(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PDO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::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FETCH_NUM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, 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PDO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::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FETCH_ORI_NEXT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)) {</a:t>
            </a: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  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$data 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= 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$row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[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0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] . </a:t>
            </a:r>
            <a:r>
              <a:rPr lang="en-US" sz="1800" dirty="0" smtClean="0">
                <a:solidFill>
                  <a:srgbClr val="DD0000"/>
                </a:solidFill>
                <a:ea typeface="Calibri"/>
                <a:cs typeface="Arial"/>
              </a:rPr>
              <a:t>" , "</a:t>
            </a:r>
            <a:r>
              <a:rPr lang="en-US" sz="1800" dirty="0">
                <a:solidFill>
                  <a:srgbClr val="DD0000"/>
                </a:solidFill>
                <a:ea typeface="Calibri"/>
                <a:cs typeface="Arial"/>
              </a:rPr>
              <a:t> 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. 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$row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[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1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] . </a:t>
            </a:r>
            <a:r>
              <a:rPr lang="en-US" sz="1800" dirty="0" smtClean="0">
                <a:solidFill>
                  <a:srgbClr val="DD0000"/>
                </a:solidFill>
                <a:ea typeface="Calibri"/>
                <a:cs typeface="Arial"/>
              </a:rPr>
              <a:t>" , "</a:t>
            </a:r>
            <a:r>
              <a:rPr lang="en-US" sz="1800" dirty="0">
                <a:solidFill>
                  <a:srgbClr val="DD0000"/>
                </a:solidFill>
                <a:ea typeface="Calibri"/>
                <a:cs typeface="Arial"/>
              </a:rPr>
              <a:t> 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. 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$row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[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2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] . </a:t>
            </a:r>
            <a:r>
              <a:rPr lang="en-US" sz="1800" dirty="0" smtClean="0">
                <a:solidFill>
                  <a:srgbClr val="DD0000"/>
                </a:solidFill>
                <a:ea typeface="Calibri"/>
                <a:cs typeface="Arial"/>
              </a:rPr>
              <a:t>"&lt;</a:t>
            </a:r>
            <a:r>
              <a:rPr lang="en-US" sz="1800" dirty="0" err="1" smtClean="0">
                <a:solidFill>
                  <a:srgbClr val="DD0000"/>
                </a:solidFill>
                <a:ea typeface="Calibri"/>
                <a:cs typeface="Arial"/>
              </a:rPr>
              <a:t>br</a:t>
            </a:r>
            <a:r>
              <a:rPr lang="en-US" sz="1800" dirty="0" smtClean="0">
                <a:solidFill>
                  <a:srgbClr val="DD0000"/>
                </a:solidFill>
                <a:ea typeface="Calibri"/>
                <a:cs typeface="Arial"/>
              </a:rPr>
              <a:t>/&gt;"</a:t>
            </a:r>
            <a:r>
              <a:rPr lang="en-US" sz="1800" dirty="0" smtClean="0">
                <a:solidFill>
                  <a:srgbClr val="007700"/>
                </a:solidFill>
                <a:ea typeface="Calibri"/>
                <a:cs typeface="Arial"/>
              </a:rPr>
              <a:t>;</a:t>
            </a: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  print 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$data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;</a:t>
            </a: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}</a:t>
            </a:r>
            <a:b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</a:t>
            </a:r>
            <a:r>
              <a:rPr lang="en-US" sz="1800" dirty="0" smtClean="0">
                <a:solidFill>
                  <a:srgbClr val="0000BB"/>
                </a:solidFill>
                <a:ea typeface="Calibri"/>
                <a:cs typeface="Arial"/>
              </a:rPr>
              <a:t>$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 result  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= 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null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;</a:t>
            </a: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}</a:t>
            </a:r>
            <a:b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catch (</a:t>
            </a:r>
            <a:r>
              <a:rPr lang="en-US" sz="1800" dirty="0" err="1">
                <a:solidFill>
                  <a:srgbClr val="0000BB"/>
                </a:solidFill>
                <a:ea typeface="Calibri"/>
                <a:cs typeface="Arial"/>
              </a:rPr>
              <a:t>PDOException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 $e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) </a:t>
            </a:r>
            <a:endParaRPr lang="en-US" sz="1800" dirty="0" smtClean="0">
              <a:solidFill>
                <a:srgbClr val="007700"/>
              </a:solidFill>
              <a:ea typeface="Calibri"/>
              <a:cs typeface="Arial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 </a:t>
            </a:r>
            <a:r>
              <a:rPr lang="en-US" sz="1800" dirty="0" smtClean="0">
                <a:solidFill>
                  <a:srgbClr val="007700"/>
                </a:solidFill>
                <a:ea typeface="Calibri"/>
                <a:cs typeface="Arial"/>
              </a:rPr>
              <a:t>    {</a:t>
            </a: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print </a:t>
            </a:r>
            <a:r>
              <a:rPr lang="en-US" sz="1800" dirty="0">
                <a:solidFill>
                  <a:srgbClr val="0000BB"/>
                </a:solidFill>
                <a:ea typeface="Calibri"/>
                <a:cs typeface="Arial"/>
              </a:rPr>
              <a:t>$e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-&gt;</a:t>
            </a:r>
            <a:r>
              <a:rPr lang="en-US" sz="1800" dirty="0" err="1">
                <a:solidFill>
                  <a:srgbClr val="0000BB"/>
                </a:solidFill>
                <a:ea typeface="Calibri"/>
                <a:cs typeface="Arial"/>
              </a:rPr>
              <a:t>getMessage</a:t>
            </a:r>
            <a:r>
              <a:rPr lang="en-US" sz="1800" dirty="0">
                <a:solidFill>
                  <a:srgbClr val="007700"/>
                </a:solidFill>
                <a:ea typeface="Calibri"/>
                <a:cs typeface="Arial"/>
              </a:rPr>
              <a:t>();</a:t>
            </a: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}</a:t>
            </a:r>
            <a:b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}</a:t>
            </a:r>
            <a:br>
              <a:rPr lang="en-US" sz="18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205358012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8077200" cy="56856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0070C0"/>
                </a:solidFill>
              </a:rPr>
              <a:t>Example: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09600"/>
            <a:ext cx="8458200" cy="6172200"/>
          </a:xfrm>
        </p:spPr>
        <p:txBody>
          <a:bodyPr>
            <a:noAutofit/>
          </a:bodyPr>
          <a:lstStyle/>
          <a:p>
            <a:pPr marL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700" b="1" u="sng" dirty="0">
                <a:solidFill>
                  <a:srgbClr val="7030A0"/>
                </a:solidFill>
                <a:ea typeface="Calibri"/>
                <a:cs typeface="Arial"/>
              </a:rPr>
              <a:t>Example #2 </a:t>
            </a:r>
            <a:r>
              <a:rPr lang="en-US" sz="1700" b="1" dirty="0">
                <a:ea typeface="Calibri"/>
                <a:cs typeface="Arial"/>
              </a:rPr>
              <a:t>Fetching rows with a scrollable cursor  </a:t>
            </a:r>
            <a:r>
              <a:rPr lang="en-US" sz="1700" b="1" dirty="0" smtClean="0">
                <a:ea typeface="Calibri"/>
                <a:cs typeface="Arial"/>
              </a:rPr>
              <a:t>:</a:t>
            </a:r>
            <a:r>
              <a:rPr lang="en-US" sz="1700" dirty="0" smtClean="0">
                <a:solidFill>
                  <a:srgbClr val="0000BB"/>
                </a:solidFill>
                <a:ea typeface="Calibri"/>
                <a:cs typeface="Arial"/>
              </a:rPr>
              <a:t>Backwards</a:t>
            </a:r>
            <a:r>
              <a:rPr lang="en-US" sz="1700" b="1" dirty="0" smtClean="0">
                <a:ea typeface="Calibri"/>
                <a:cs typeface="Arial"/>
              </a:rPr>
              <a:t> </a:t>
            </a:r>
            <a:endParaRPr lang="en-US" sz="1700" dirty="0">
              <a:ea typeface="Calibri"/>
              <a:cs typeface="Arial"/>
            </a:endParaRPr>
          </a:p>
          <a:p>
            <a:pPr marL="0" lvl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700" dirty="0" smtClean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function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</a:t>
            </a:r>
            <a:r>
              <a:rPr lang="en-US" sz="1700" dirty="0" err="1">
                <a:solidFill>
                  <a:srgbClr val="0000BB"/>
                </a:solidFill>
                <a:ea typeface="Calibri"/>
                <a:cs typeface="Arial"/>
              </a:rPr>
              <a:t>readDataBackwards</a:t>
            </a:r>
            <a:r>
              <a:rPr lang="en-US" sz="1700" dirty="0" smtClean="0">
                <a:solidFill>
                  <a:srgbClr val="007700"/>
                </a:solidFill>
                <a:ea typeface="Calibri"/>
                <a:cs typeface="Arial"/>
              </a:rPr>
              <a:t>(</a:t>
            </a:r>
            <a:r>
              <a:rPr lang="en-US" sz="1700" dirty="0" smtClean="0">
                <a:solidFill>
                  <a:srgbClr val="0000BB"/>
                </a:solidFill>
                <a:ea typeface="Calibri"/>
                <a:cs typeface="Arial"/>
              </a:rPr>
              <a:t>$con</a:t>
            </a:r>
            <a:r>
              <a:rPr lang="en-US" sz="1700" dirty="0" smtClean="0">
                <a:solidFill>
                  <a:srgbClr val="007700"/>
                </a:solidFill>
                <a:ea typeface="Calibri"/>
                <a:cs typeface="Arial"/>
              </a:rPr>
              <a:t>)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 {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$</a:t>
            </a:r>
            <a:r>
              <a:rPr lang="en-US" sz="1700" dirty="0" err="1">
                <a:solidFill>
                  <a:srgbClr val="0000BB"/>
                </a:solidFill>
                <a:ea typeface="Calibri"/>
                <a:cs typeface="Arial"/>
              </a:rPr>
              <a:t>sql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 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= </a:t>
            </a:r>
            <a:r>
              <a:rPr lang="en-US" sz="1700" dirty="0" smtClean="0">
                <a:solidFill>
                  <a:srgbClr val="DD0000"/>
                </a:solidFill>
                <a:ea typeface="Calibri"/>
                <a:cs typeface="Arial"/>
              </a:rPr>
              <a:t>'</a:t>
            </a:r>
            <a:r>
              <a:rPr lang="en-US" sz="1600" dirty="0">
                <a:solidFill>
                  <a:srgbClr val="C00000"/>
                </a:solidFill>
                <a:latin typeface="Courier New"/>
                <a:ea typeface="Times New Roman"/>
                <a:cs typeface="Arial"/>
              </a:rPr>
              <a:t>SELECT name, gender, nationality FROM info </a:t>
            </a:r>
            <a:r>
              <a:rPr lang="en-US" sz="1700" dirty="0" smtClean="0">
                <a:solidFill>
                  <a:srgbClr val="DD0000"/>
                </a:solidFill>
                <a:ea typeface="Calibri"/>
                <a:cs typeface="Arial"/>
              </a:rPr>
              <a:t>'</a:t>
            </a:r>
            <a:r>
              <a:rPr lang="en-US" sz="1700" dirty="0" smtClean="0">
                <a:solidFill>
                  <a:srgbClr val="007700"/>
                </a:solidFill>
                <a:ea typeface="Calibri"/>
                <a:cs typeface="Arial"/>
              </a:rPr>
              <a:t>;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try {</a:t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</a:t>
            </a:r>
            <a:r>
              <a:rPr lang="en-US" sz="1700" dirty="0" smtClean="0">
                <a:solidFill>
                  <a:srgbClr val="0000BB"/>
                </a:solidFill>
                <a:ea typeface="Calibri"/>
                <a:cs typeface="Arial"/>
              </a:rPr>
              <a:t>$result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 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= </a:t>
            </a:r>
            <a:r>
              <a:rPr lang="en-US" sz="1700" dirty="0" smtClean="0">
                <a:solidFill>
                  <a:srgbClr val="0000BB"/>
                </a:solidFill>
                <a:ea typeface="Calibri"/>
                <a:cs typeface="Arial"/>
              </a:rPr>
              <a:t>$con</a:t>
            </a:r>
            <a:r>
              <a:rPr lang="en-US" sz="1700" dirty="0" smtClean="0">
                <a:solidFill>
                  <a:srgbClr val="007700"/>
                </a:solidFill>
                <a:ea typeface="Calibri"/>
                <a:cs typeface="Arial"/>
              </a:rPr>
              <a:t>-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&gt;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prepare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(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$</a:t>
            </a:r>
            <a:r>
              <a:rPr lang="en-US" sz="1700" dirty="0" err="1" smtClean="0">
                <a:solidFill>
                  <a:srgbClr val="0000BB"/>
                </a:solidFill>
                <a:ea typeface="Calibri"/>
                <a:cs typeface="Arial"/>
              </a:rPr>
              <a:t>sql</a:t>
            </a:r>
            <a:r>
              <a:rPr lang="en-US" sz="1700" dirty="0" smtClean="0">
                <a:solidFill>
                  <a:srgbClr val="0000BB"/>
                </a:solidFill>
                <a:ea typeface="Calibri"/>
                <a:cs typeface="Arial"/>
              </a:rPr>
              <a:t> </a:t>
            </a:r>
            <a:r>
              <a:rPr lang="en-US" sz="1700" dirty="0" smtClean="0">
                <a:solidFill>
                  <a:srgbClr val="007700"/>
                </a:solidFill>
                <a:ea typeface="Calibri"/>
                <a:cs typeface="Arial"/>
              </a:rPr>
              <a:t>,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 array(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PDO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::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ATTR_CURSOR 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=&gt; 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PDO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::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CURSOR_SCROLL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));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</a:t>
            </a:r>
            <a:r>
              <a:rPr lang="en-US" sz="1700" dirty="0" smtClean="0">
                <a:solidFill>
                  <a:srgbClr val="0000BB"/>
                </a:solidFill>
                <a:ea typeface="Calibri"/>
                <a:cs typeface="Arial"/>
              </a:rPr>
              <a:t>$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 result </a:t>
            </a:r>
            <a:r>
              <a:rPr lang="en-US" sz="1700" dirty="0" smtClean="0">
                <a:solidFill>
                  <a:srgbClr val="007700"/>
                </a:solidFill>
                <a:ea typeface="Calibri"/>
                <a:cs typeface="Arial"/>
              </a:rPr>
              <a:t>-&gt;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execute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();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$row 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= </a:t>
            </a:r>
            <a:r>
              <a:rPr lang="en-US" sz="1700" dirty="0" smtClean="0">
                <a:solidFill>
                  <a:srgbClr val="0000BB"/>
                </a:solidFill>
                <a:ea typeface="Calibri"/>
                <a:cs typeface="Arial"/>
              </a:rPr>
              <a:t>$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 result </a:t>
            </a:r>
            <a:r>
              <a:rPr lang="en-US" sz="1700" dirty="0" smtClean="0">
                <a:solidFill>
                  <a:srgbClr val="0000BB"/>
                </a:solidFill>
                <a:ea typeface="Calibri"/>
                <a:cs typeface="Arial"/>
              </a:rPr>
              <a:t>-</a:t>
            </a:r>
            <a:r>
              <a:rPr lang="en-US" sz="1700" dirty="0" smtClean="0">
                <a:solidFill>
                  <a:srgbClr val="007700"/>
                </a:solidFill>
                <a:ea typeface="Calibri"/>
                <a:cs typeface="Arial"/>
              </a:rPr>
              <a:t>&gt;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fetch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(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PDO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::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FETCH_NUM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, 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PDO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::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FETCH_ORI_LAST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);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do {</a:t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  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$data 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= 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$row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[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0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] . </a:t>
            </a:r>
            <a:r>
              <a:rPr lang="en-US" sz="1700" dirty="0" smtClean="0">
                <a:solidFill>
                  <a:srgbClr val="DD0000"/>
                </a:solidFill>
                <a:ea typeface="Calibri"/>
                <a:cs typeface="Arial"/>
              </a:rPr>
              <a:t>"  , "</a:t>
            </a:r>
            <a:r>
              <a:rPr lang="en-US" sz="1700" dirty="0">
                <a:solidFill>
                  <a:srgbClr val="DD0000"/>
                </a:solidFill>
                <a:ea typeface="Calibri"/>
                <a:cs typeface="Arial"/>
              </a:rPr>
              <a:t> 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. 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$row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[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1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] . </a:t>
            </a:r>
            <a:r>
              <a:rPr lang="en-US" sz="1700" dirty="0" smtClean="0">
                <a:solidFill>
                  <a:srgbClr val="DD0000"/>
                </a:solidFill>
                <a:ea typeface="Calibri"/>
                <a:cs typeface="Arial"/>
              </a:rPr>
              <a:t>"  , "</a:t>
            </a:r>
            <a:r>
              <a:rPr lang="en-US" sz="1700" dirty="0">
                <a:solidFill>
                  <a:srgbClr val="DD0000"/>
                </a:solidFill>
                <a:ea typeface="Calibri"/>
                <a:cs typeface="Arial"/>
              </a:rPr>
              <a:t> 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. 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$row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[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2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] . </a:t>
            </a:r>
            <a:r>
              <a:rPr lang="en-US" sz="1700" dirty="0" smtClean="0">
                <a:solidFill>
                  <a:srgbClr val="DD0000"/>
                </a:solidFill>
                <a:ea typeface="Calibri"/>
                <a:cs typeface="Arial"/>
              </a:rPr>
              <a:t>"&lt;</a:t>
            </a:r>
            <a:r>
              <a:rPr lang="en-US" sz="1700" dirty="0" err="1" smtClean="0">
                <a:solidFill>
                  <a:srgbClr val="DD0000"/>
                </a:solidFill>
                <a:ea typeface="Calibri"/>
                <a:cs typeface="Arial"/>
              </a:rPr>
              <a:t>br</a:t>
            </a:r>
            <a:r>
              <a:rPr lang="en-US" sz="1700" dirty="0" smtClean="0">
                <a:solidFill>
                  <a:srgbClr val="DD0000"/>
                </a:solidFill>
                <a:ea typeface="Calibri"/>
                <a:cs typeface="Arial"/>
              </a:rPr>
              <a:t>&gt;"</a:t>
            </a:r>
            <a:r>
              <a:rPr lang="en-US" sz="1700" dirty="0" smtClean="0">
                <a:solidFill>
                  <a:srgbClr val="007700"/>
                </a:solidFill>
                <a:ea typeface="Calibri"/>
                <a:cs typeface="Arial"/>
              </a:rPr>
              <a:t>;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  print 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$data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;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} while (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$row 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= </a:t>
            </a:r>
            <a:r>
              <a:rPr lang="en-US" sz="1700" dirty="0" smtClean="0">
                <a:solidFill>
                  <a:srgbClr val="0000BB"/>
                </a:solidFill>
                <a:ea typeface="Calibri"/>
                <a:cs typeface="Arial"/>
              </a:rPr>
              <a:t>$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 result </a:t>
            </a:r>
            <a:r>
              <a:rPr lang="en-US" sz="1700" dirty="0" smtClean="0">
                <a:solidFill>
                  <a:srgbClr val="007700"/>
                </a:solidFill>
                <a:ea typeface="Calibri"/>
                <a:cs typeface="Arial"/>
              </a:rPr>
              <a:t>-&gt;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fetch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(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PDO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::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FETCH_NUM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, 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PDO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::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FETCH_ORI_PRIOR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));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</a:t>
            </a:r>
            <a:r>
              <a:rPr lang="en-US" sz="1700" dirty="0" smtClean="0">
                <a:solidFill>
                  <a:srgbClr val="0000BB"/>
                </a:solidFill>
                <a:ea typeface="Calibri"/>
                <a:cs typeface="Arial"/>
              </a:rPr>
              <a:t>$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 result  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= 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null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;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}</a:t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catch (</a:t>
            </a:r>
            <a:r>
              <a:rPr lang="en-US" sz="1700" dirty="0" err="1" smtClean="0">
                <a:solidFill>
                  <a:srgbClr val="0000BB"/>
                </a:solidFill>
                <a:ea typeface="Calibri"/>
                <a:cs typeface="Arial"/>
              </a:rPr>
              <a:t>PDOException</a:t>
            </a:r>
            <a:r>
              <a:rPr lang="en-US" sz="1700" dirty="0" smtClean="0">
                <a:solidFill>
                  <a:srgbClr val="0000BB"/>
                </a:solidFill>
                <a:ea typeface="Calibri"/>
                <a:cs typeface="Arial"/>
              </a:rPr>
              <a:t>  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 $e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) {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  print 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$e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-&gt;</a:t>
            </a:r>
            <a:r>
              <a:rPr lang="en-US" sz="1700" dirty="0" err="1">
                <a:solidFill>
                  <a:srgbClr val="0000BB"/>
                </a:solidFill>
                <a:ea typeface="Calibri"/>
                <a:cs typeface="Arial"/>
              </a:rPr>
              <a:t>getMessage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();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 }</a:t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 smtClean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}    //end function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 smtClean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print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</a:t>
            </a:r>
            <a:r>
              <a:rPr lang="en-US" sz="1700" dirty="0" smtClean="0">
                <a:solidFill>
                  <a:srgbClr val="DD0000"/>
                </a:solidFill>
                <a:ea typeface="Calibri"/>
                <a:cs typeface="Arial"/>
              </a:rPr>
              <a:t>“Get data</a:t>
            </a:r>
            <a:r>
              <a:rPr lang="en-US" sz="1700" dirty="0">
                <a:solidFill>
                  <a:srgbClr val="DD0000"/>
                </a:solidFill>
                <a:ea typeface="Calibri"/>
                <a:cs typeface="Arial"/>
              </a:rPr>
              <a:t> forwards</a:t>
            </a:r>
            <a:r>
              <a:rPr lang="en-US" sz="1700" dirty="0" smtClean="0">
                <a:solidFill>
                  <a:srgbClr val="DD0000"/>
                </a:solidFill>
                <a:ea typeface="Calibri"/>
                <a:cs typeface="Arial"/>
              </a:rPr>
              <a:t>:&lt;</a:t>
            </a:r>
            <a:r>
              <a:rPr lang="en-US" sz="1700" dirty="0" err="1" smtClean="0">
                <a:solidFill>
                  <a:srgbClr val="DD0000"/>
                </a:solidFill>
                <a:ea typeface="Calibri"/>
                <a:cs typeface="Arial"/>
              </a:rPr>
              <a:t>br</a:t>
            </a:r>
            <a:r>
              <a:rPr lang="en-US" sz="1700" dirty="0" smtClean="0">
                <a:solidFill>
                  <a:srgbClr val="DD0000"/>
                </a:solidFill>
                <a:ea typeface="Calibri"/>
                <a:cs typeface="Arial"/>
              </a:rPr>
              <a:t>&gt;"</a:t>
            </a:r>
            <a:r>
              <a:rPr lang="en-US" sz="1700" dirty="0" smtClean="0">
                <a:solidFill>
                  <a:srgbClr val="007700"/>
                </a:solidFill>
                <a:ea typeface="Calibri"/>
                <a:cs typeface="Arial"/>
              </a:rPr>
              <a:t>;                </a:t>
            </a:r>
            <a:r>
              <a:rPr lang="en-US" sz="1700" dirty="0" err="1" smtClean="0">
                <a:solidFill>
                  <a:srgbClr val="0000BB"/>
                </a:solidFill>
                <a:ea typeface="Calibri"/>
                <a:cs typeface="Arial"/>
              </a:rPr>
              <a:t>readDataForwards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(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$conn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);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 smtClean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print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> </a:t>
            </a:r>
            <a:r>
              <a:rPr lang="en-US" sz="1700" dirty="0" smtClean="0">
                <a:solidFill>
                  <a:srgbClr val="DD0000"/>
                </a:solidFill>
                <a:ea typeface="Calibri"/>
                <a:cs typeface="Arial"/>
              </a:rPr>
              <a:t>“Get data </a:t>
            </a:r>
            <a:r>
              <a:rPr lang="en-US" sz="1700" dirty="0">
                <a:solidFill>
                  <a:srgbClr val="DD0000"/>
                </a:solidFill>
                <a:ea typeface="Calibri"/>
                <a:cs typeface="Arial"/>
              </a:rPr>
              <a:t> backwards</a:t>
            </a:r>
            <a:r>
              <a:rPr lang="en-US" sz="1700" dirty="0" smtClean="0">
                <a:solidFill>
                  <a:srgbClr val="DD0000"/>
                </a:solidFill>
                <a:ea typeface="Calibri"/>
                <a:cs typeface="Arial"/>
              </a:rPr>
              <a:t>:&lt;</a:t>
            </a:r>
            <a:r>
              <a:rPr lang="en-US" sz="1700" dirty="0" err="1" smtClean="0">
                <a:solidFill>
                  <a:srgbClr val="DD0000"/>
                </a:solidFill>
                <a:ea typeface="Calibri"/>
                <a:cs typeface="Arial"/>
              </a:rPr>
              <a:t>br</a:t>
            </a:r>
            <a:r>
              <a:rPr lang="en-US" sz="1700" dirty="0" smtClean="0">
                <a:solidFill>
                  <a:srgbClr val="DD0000"/>
                </a:solidFill>
                <a:ea typeface="Calibri"/>
                <a:cs typeface="Arial"/>
              </a:rPr>
              <a:t>&gt;"</a:t>
            </a:r>
            <a:r>
              <a:rPr lang="en-US" sz="1700" dirty="0" smtClean="0">
                <a:solidFill>
                  <a:srgbClr val="007700"/>
                </a:solidFill>
                <a:ea typeface="Calibri"/>
                <a:cs typeface="Arial"/>
              </a:rPr>
              <a:t>;             </a:t>
            </a:r>
            <a:r>
              <a:rPr lang="en-US" sz="1700" dirty="0" err="1" smtClean="0">
                <a:solidFill>
                  <a:srgbClr val="0000BB"/>
                </a:solidFill>
                <a:ea typeface="Calibri"/>
                <a:cs typeface="Arial"/>
              </a:rPr>
              <a:t>readDataBackwards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(</a:t>
            </a: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$conn</a:t>
            </a:r>
            <a:r>
              <a:rPr lang="en-US" sz="1700" dirty="0">
                <a:solidFill>
                  <a:srgbClr val="007700"/>
                </a:solidFill>
                <a:ea typeface="Calibri"/>
                <a:cs typeface="Arial"/>
              </a:rPr>
              <a:t>);</a:t>
            </a:r>
            <a: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  <a:t/>
            </a:r>
            <a:br>
              <a:rPr lang="en-US" sz="1700" dirty="0">
                <a:solidFill>
                  <a:srgbClr val="007700"/>
                </a:solidFill>
                <a:latin typeface="Courier New"/>
                <a:ea typeface="Calibri"/>
                <a:cs typeface="Arial"/>
              </a:rPr>
            </a:br>
            <a:r>
              <a:rPr lang="en-US" sz="1700" dirty="0">
                <a:solidFill>
                  <a:srgbClr val="0000BB"/>
                </a:solidFill>
                <a:ea typeface="Calibri"/>
                <a:cs typeface="Arial"/>
              </a:rPr>
              <a:t>?&gt;</a:t>
            </a:r>
            <a:endParaRPr lang="en-US" sz="1700" dirty="0">
              <a:solidFill>
                <a:prstClr val="black"/>
              </a:solidFill>
              <a:ea typeface="Calibri"/>
              <a:cs typeface="Arial"/>
            </a:endParaRP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68735632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80772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</a:rPr>
              <a:t>The </a:t>
            </a:r>
            <a:r>
              <a:rPr lang="en-US" sz="3200" b="1" dirty="0" smtClean="0">
                <a:solidFill>
                  <a:srgbClr val="00B0F0"/>
                </a:solidFill>
              </a:rPr>
              <a:t>execute()/</a:t>
            </a:r>
            <a:r>
              <a:rPr lang="en-US" sz="3200" b="1" dirty="0" err="1" smtClean="0">
                <a:solidFill>
                  <a:srgbClr val="00B0F0"/>
                </a:solidFill>
              </a:rPr>
              <a:t>bindParam</a:t>
            </a:r>
            <a:r>
              <a:rPr lang="en-US" sz="3200" b="1" dirty="0" smtClean="0">
                <a:solidFill>
                  <a:srgbClr val="00B0F0"/>
                </a:solidFill>
              </a:rPr>
              <a:t>()</a:t>
            </a:r>
            <a:r>
              <a:rPr lang="en-US" sz="3200" b="1" dirty="0" smtClean="0">
                <a:solidFill>
                  <a:srgbClr val="0070C0"/>
                </a:solidFill>
              </a:rPr>
              <a:t> Method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0"/>
            <a:ext cx="8534400" cy="6400800"/>
          </a:xfrm>
        </p:spPr>
        <p:txBody>
          <a:bodyPr>
            <a:noAutofit/>
          </a:bodyPr>
          <a:lstStyle/>
          <a:p>
            <a:pPr marL="0">
              <a:spcBef>
                <a:spcPts val="0"/>
              </a:spcBef>
            </a:pPr>
            <a:r>
              <a:rPr lang="en-US" sz="2000" b="1" u="sng" dirty="0">
                <a:solidFill>
                  <a:srgbClr val="2411AF"/>
                </a:solidFill>
              </a:rPr>
              <a:t>Syntax </a:t>
            </a:r>
            <a:r>
              <a:rPr lang="en-US" sz="2000" b="1" u="sng" dirty="0" smtClean="0">
                <a:solidFill>
                  <a:srgbClr val="2411AF"/>
                </a:solidFill>
              </a:rPr>
              <a:t>:</a:t>
            </a:r>
            <a:r>
              <a:rPr lang="en-US" sz="2000" b="1" u="sng" dirty="0" smtClean="0">
                <a:solidFill>
                  <a:srgbClr val="7030A0"/>
                </a:solidFill>
              </a:rPr>
              <a:t> </a:t>
            </a:r>
            <a:r>
              <a:rPr lang="en-US" sz="2000" b="1" dirty="0" smtClean="0">
                <a:solidFill>
                  <a:srgbClr val="7030A0"/>
                </a:solidFill>
              </a:rPr>
              <a:t>     </a:t>
            </a:r>
            <a:r>
              <a:rPr lang="en-US" sz="2000" b="1" u="sng" dirty="0" smtClean="0">
                <a:solidFill>
                  <a:srgbClr val="009ED6"/>
                </a:solidFill>
                <a:hlinkClick r:id="rId2"/>
              </a:rPr>
              <a:t>Ex1</a:t>
            </a:r>
            <a:r>
              <a:rPr lang="en-US" sz="2000" b="1" dirty="0" smtClean="0">
                <a:solidFill>
                  <a:srgbClr val="7030A0"/>
                </a:solidFill>
              </a:rPr>
              <a:t>                       </a:t>
            </a:r>
            <a:r>
              <a:rPr lang="en-US" sz="2000" b="1" u="sng" dirty="0" smtClean="0">
                <a:solidFill>
                  <a:srgbClr val="7030A0"/>
                </a:solidFill>
                <a:hlinkClick r:id="rId3" action="ppaction://hlinkfile"/>
              </a:rPr>
              <a:t>Ex2</a:t>
            </a:r>
            <a:r>
              <a:rPr lang="en-US" sz="2000" dirty="0">
                <a:solidFill>
                  <a:srgbClr val="7030A0"/>
                </a:solidFill>
              </a:rPr>
              <a:t> </a:t>
            </a:r>
            <a:r>
              <a:rPr lang="en-US" sz="2000" dirty="0" smtClean="0">
                <a:solidFill>
                  <a:srgbClr val="7030A0"/>
                </a:solidFill>
              </a:rPr>
              <a:t>  	    </a:t>
            </a:r>
            <a:r>
              <a:rPr lang="en-US" sz="2000" b="1" u="sng" dirty="0" smtClean="0">
                <a:solidFill>
                  <a:srgbClr val="7030A0"/>
                </a:solidFill>
                <a:hlinkClick r:id="rId4" action="ppaction://hlinkfile"/>
              </a:rPr>
              <a:t>Ex3</a:t>
            </a:r>
            <a:endParaRPr lang="en-US" sz="2000" b="1" u="sng" dirty="0">
              <a:solidFill>
                <a:srgbClr val="7030A0"/>
              </a:solidFill>
            </a:endParaRPr>
          </a:p>
          <a:p>
            <a:pPr marL="0" marR="0">
              <a:spcBef>
                <a:spcPts val="0"/>
              </a:spcBef>
            </a:pPr>
            <a:endParaRPr lang="en-US" sz="2000" b="1" u="sng" dirty="0" smtClean="0">
              <a:solidFill>
                <a:srgbClr val="7030A0"/>
              </a:solidFill>
            </a:endParaRPr>
          </a:p>
          <a:p>
            <a:pPr marL="0" marR="0" indent="0">
              <a:spcBef>
                <a:spcPts val="0"/>
              </a:spcBef>
              <a:buNone/>
            </a:pPr>
            <a:r>
              <a:rPr lang="en-US" sz="2000" dirty="0" err="1" smtClean="0">
                <a:solidFill>
                  <a:srgbClr val="00B050"/>
                </a:solidFill>
              </a:rPr>
              <a:t>bool</a:t>
            </a:r>
            <a:r>
              <a:rPr lang="en-US" sz="2000" dirty="0" smtClean="0"/>
              <a:t> </a:t>
            </a:r>
            <a:r>
              <a:rPr lang="en-US" sz="2000" dirty="0" err="1" smtClean="0">
                <a:solidFill>
                  <a:srgbClr val="2411AF"/>
                </a:solidFill>
              </a:rPr>
              <a:t>PDOStatement</a:t>
            </a:r>
            <a:r>
              <a:rPr lang="en-US" sz="2000" b="1" dirty="0" smtClean="0"/>
              <a:t>::</a:t>
            </a:r>
            <a:r>
              <a:rPr lang="en-US" sz="2000" dirty="0" err="1" smtClean="0">
                <a:solidFill>
                  <a:srgbClr val="0070C0"/>
                </a:solidFill>
              </a:rPr>
              <a:t>bindParam</a:t>
            </a:r>
            <a:r>
              <a:rPr lang="en-US" sz="2000" dirty="0" smtClean="0"/>
              <a:t> ( </a:t>
            </a:r>
            <a:r>
              <a:rPr lang="en-US" sz="2000" dirty="0" smtClean="0">
                <a:hlinkClick r:id="rId5" action="ppaction://hlinkfile"/>
              </a:rPr>
              <a:t>mixed</a:t>
            </a:r>
            <a:r>
              <a:rPr lang="en-US" sz="2000" dirty="0" smtClean="0"/>
              <a:t> $</a:t>
            </a:r>
            <a:r>
              <a:rPr lang="en-US" sz="2000" dirty="0" smtClean="0">
                <a:solidFill>
                  <a:srgbClr val="FF0000"/>
                </a:solidFill>
              </a:rPr>
              <a:t>parameter</a:t>
            </a:r>
            <a:r>
              <a:rPr lang="en-US" sz="2000" dirty="0" smtClean="0"/>
              <a:t> , </a:t>
            </a:r>
            <a:r>
              <a:rPr lang="en-US" sz="2000" dirty="0" smtClean="0">
                <a:hlinkClick r:id="rId5" action="ppaction://hlinkfile"/>
              </a:rPr>
              <a:t>mixed</a:t>
            </a:r>
            <a:r>
              <a:rPr lang="en-US" sz="2000" dirty="0" smtClean="0"/>
              <a:t> &amp;$</a:t>
            </a:r>
            <a:r>
              <a:rPr lang="en-US" sz="2000" dirty="0" smtClean="0">
                <a:solidFill>
                  <a:srgbClr val="FF0000"/>
                </a:solidFill>
              </a:rPr>
              <a:t>variable</a:t>
            </a:r>
            <a:r>
              <a:rPr lang="en-US" sz="2000" dirty="0" smtClean="0"/>
              <a:t> [, </a:t>
            </a:r>
            <a:r>
              <a:rPr lang="en-US" sz="2000" dirty="0" err="1" smtClean="0"/>
              <a:t>int</a:t>
            </a:r>
            <a:r>
              <a:rPr lang="en-US" sz="2000" dirty="0" smtClean="0"/>
              <a:t> $</a:t>
            </a:r>
            <a:r>
              <a:rPr lang="en-US" sz="2000" dirty="0" err="1" smtClean="0">
                <a:solidFill>
                  <a:srgbClr val="FF0000"/>
                </a:solidFill>
              </a:rPr>
              <a:t>data_type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smtClean="0"/>
              <a:t>= PDO::PARAM_STR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smtClean="0"/>
              <a:t>[, </a:t>
            </a:r>
            <a:r>
              <a:rPr lang="en-US" sz="2000" dirty="0" err="1" smtClean="0"/>
              <a:t>int</a:t>
            </a:r>
            <a:r>
              <a:rPr lang="en-US" sz="2000" dirty="0" smtClean="0"/>
              <a:t> $</a:t>
            </a:r>
            <a:r>
              <a:rPr lang="en-US" sz="2000" dirty="0" smtClean="0">
                <a:solidFill>
                  <a:srgbClr val="FF0000"/>
                </a:solidFill>
              </a:rPr>
              <a:t>length</a:t>
            </a:r>
            <a:r>
              <a:rPr lang="en-US" sz="2000" dirty="0" smtClean="0"/>
              <a:t> [, </a:t>
            </a:r>
            <a:r>
              <a:rPr lang="en-US" sz="2000" dirty="0" smtClean="0">
                <a:hlinkClick r:id="rId5" action="ppaction://hlinkfile"/>
              </a:rPr>
              <a:t>mixed</a:t>
            </a:r>
            <a:r>
              <a:rPr lang="en-US" sz="2000" dirty="0" smtClean="0"/>
              <a:t> $</a:t>
            </a:r>
            <a:r>
              <a:rPr lang="en-US" sz="2000" dirty="0" err="1" smtClean="0">
                <a:solidFill>
                  <a:srgbClr val="FF0000"/>
                </a:solidFill>
              </a:rPr>
              <a:t>driver_options</a:t>
            </a:r>
            <a:r>
              <a:rPr lang="en-US" sz="2000" dirty="0" smtClean="0">
                <a:solidFill>
                  <a:srgbClr val="FF0000"/>
                </a:solidFill>
              </a:rPr>
              <a:t> </a:t>
            </a:r>
            <a:r>
              <a:rPr lang="en-US" sz="2000" dirty="0" smtClean="0"/>
              <a:t>]]] )</a:t>
            </a:r>
            <a:endParaRPr lang="en-US" sz="2000" b="1" u="sng" dirty="0" smtClean="0">
              <a:solidFill>
                <a:srgbClr val="7030A0"/>
              </a:solidFill>
            </a:endParaRPr>
          </a:p>
          <a:p>
            <a:r>
              <a:rPr lang="en-US" sz="2000" dirty="0" smtClean="0"/>
              <a:t>It Binds </a:t>
            </a:r>
            <a:r>
              <a:rPr lang="en-US" sz="2000" dirty="0"/>
              <a:t>a </a:t>
            </a:r>
            <a:r>
              <a:rPr lang="en-US" sz="2000" i="1" dirty="0">
                <a:solidFill>
                  <a:srgbClr val="FF0000"/>
                </a:solidFill>
              </a:rPr>
              <a:t>parameter</a:t>
            </a:r>
            <a:r>
              <a:rPr lang="en-US" sz="2000" dirty="0"/>
              <a:t> to the specified </a:t>
            </a:r>
            <a:r>
              <a:rPr lang="en-US" sz="2000" i="1" dirty="0">
                <a:solidFill>
                  <a:srgbClr val="FF0000"/>
                </a:solidFill>
              </a:rPr>
              <a:t>variable</a:t>
            </a:r>
            <a:r>
              <a:rPr lang="en-US" sz="2000" dirty="0"/>
              <a:t> </a:t>
            </a:r>
            <a:r>
              <a:rPr lang="en-US" sz="2000" i="1" dirty="0">
                <a:solidFill>
                  <a:srgbClr val="FF0000"/>
                </a:solidFill>
              </a:rPr>
              <a:t>name </a:t>
            </a:r>
            <a:endParaRPr lang="en-US" sz="2000" i="1" dirty="0" smtClean="0">
              <a:solidFill>
                <a:srgbClr val="FF0000"/>
              </a:solidFill>
            </a:endParaRPr>
          </a:p>
          <a:p>
            <a:r>
              <a:rPr lang="en-US" sz="1800" dirty="0">
                <a:solidFill>
                  <a:srgbClr val="FF0000"/>
                </a:solidFill>
              </a:rPr>
              <a:t>parameter</a:t>
            </a:r>
            <a:r>
              <a:rPr lang="en-US" sz="1800" dirty="0"/>
              <a:t> </a:t>
            </a:r>
            <a:r>
              <a:rPr lang="en-US" sz="1800" dirty="0" smtClean="0"/>
              <a:t>:       is </a:t>
            </a:r>
            <a:r>
              <a:rPr lang="en-US" sz="1800" dirty="0"/>
              <a:t>the name of the column value </a:t>
            </a:r>
            <a:r>
              <a:rPr lang="en-US" sz="1800" dirty="0" smtClean="0"/>
              <a:t>placeholder specified </a:t>
            </a:r>
            <a:r>
              <a:rPr lang="en-US" sz="1800" dirty="0"/>
              <a:t>in the prepared </a:t>
            </a:r>
            <a:r>
              <a:rPr lang="en-US" sz="1800" dirty="0" smtClean="0"/>
              <a:t>    </a:t>
            </a:r>
          </a:p>
          <a:p>
            <a:pPr marL="0" indent="0">
              <a:buNone/>
            </a:pPr>
            <a:r>
              <a:rPr lang="en-US" sz="1800" dirty="0" smtClean="0"/>
              <a:t> statement using the syntax :name.    </a:t>
            </a:r>
          </a:p>
          <a:p>
            <a:pPr marL="0" indent="0">
              <a:buNone/>
            </a:pPr>
            <a:r>
              <a:rPr lang="en-US" sz="1800" dirty="0" smtClean="0"/>
              <a:t>When </a:t>
            </a:r>
            <a:r>
              <a:rPr lang="en-US" sz="1800" dirty="0"/>
              <a:t>using </a:t>
            </a:r>
            <a:r>
              <a:rPr lang="en-US" sz="1800" b="1" dirty="0" smtClean="0">
                <a:solidFill>
                  <a:srgbClr val="FF0000"/>
                </a:solidFill>
              </a:rPr>
              <a:t>?</a:t>
            </a:r>
            <a:r>
              <a:rPr lang="en-US" sz="1800" dirty="0" smtClean="0">
                <a:solidFill>
                  <a:srgbClr val="FF0000"/>
                </a:solidFill>
              </a:rPr>
              <a:t> mark</a:t>
            </a:r>
            <a:r>
              <a:rPr lang="en-US" sz="1800" dirty="0" smtClean="0"/>
              <a:t> : the parameter is the </a:t>
            </a:r>
            <a:r>
              <a:rPr lang="en-US" sz="1800" dirty="0" smtClean="0">
                <a:solidFill>
                  <a:srgbClr val="2411AF"/>
                </a:solidFill>
              </a:rPr>
              <a:t>index</a:t>
            </a:r>
            <a:r>
              <a:rPr lang="en-US" sz="1800" dirty="0" smtClean="0"/>
              <a:t> of  the </a:t>
            </a:r>
            <a:r>
              <a:rPr lang="en-US" sz="1800" dirty="0" smtClean="0">
                <a:solidFill>
                  <a:srgbClr val="2411AF"/>
                </a:solidFill>
              </a:rPr>
              <a:t>column</a:t>
            </a:r>
            <a:r>
              <a:rPr lang="en-US" sz="1800" dirty="0" smtClean="0"/>
              <a:t> value  as </a:t>
            </a:r>
            <a:r>
              <a:rPr lang="en-US" sz="1800" dirty="0" smtClean="0">
                <a:solidFill>
                  <a:srgbClr val="00B050"/>
                </a:solidFill>
              </a:rPr>
              <a:t>located</a:t>
            </a:r>
            <a:r>
              <a:rPr lang="en-US" sz="1800" dirty="0" smtClean="0"/>
              <a:t> in  </a:t>
            </a:r>
            <a:r>
              <a:rPr lang="en-US" sz="1800" dirty="0" smtClean="0">
                <a:solidFill>
                  <a:srgbClr val="2411AF"/>
                </a:solidFill>
              </a:rPr>
              <a:t>query</a:t>
            </a:r>
            <a:r>
              <a:rPr lang="en-US" sz="1800" dirty="0" smtClean="0"/>
              <a:t>.</a:t>
            </a:r>
          </a:p>
          <a:p>
            <a:pPr marL="0" indent="0">
              <a:buNone/>
            </a:pPr>
            <a:endParaRPr lang="en-US" sz="1600" dirty="0" smtClean="0"/>
          </a:p>
          <a:p>
            <a:r>
              <a:rPr lang="en-US" sz="1800" i="1" dirty="0" smtClean="0">
                <a:solidFill>
                  <a:srgbClr val="FF0000"/>
                </a:solidFill>
              </a:rPr>
              <a:t>variable</a:t>
            </a:r>
            <a:r>
              <a:rPr lang="en-US" sz="1800" dirty="0" smtClean="0">
                <a:solidFill>
                  <a:srgbClr val="FF0000"/>
                </a:solidFill>
              </a:rPr>
              <a:t> : </a:t>
            </a:r>
            <a:r>
              <a:rPr lang="en-US" sz="1800" dirty="0" smtClean="0">
                <a:solidFill>
                  <a:srgbClr val="2411AF"/>
                </a:solidFill>
              </a:rPr>
              <a:t>The</a:t>
            </a:r>
            <a:r>
              <a:rPr lang="en-US" sz="1800" dirty="0" smtClean="0">
                <a:solidFill>
                  <a:srgbClr val="FF0000"/>
                </a:solidFill>
              </a:rPr>
              <a:t> </a:t>
            </a:r>
            <a:r>
              <a:rPr lang="en-US" sz="1800" dirty="0" smtClean="0">
                <a:solidFill>
                  <a:srgbClr val="2411AF"/>
                </a:solidFill>
              </a:rPr>
              <a:t>Name</a:t>
            </a:r>
            <a:r>
              <a:rPr lang="en-US" sz="1800" dirty="0" smtClean="0"/>
              <a:t> </a:t>
            </a:r>
            <a:r>
              <a:rPr lang="en-US" sz="1800" dirty="0"/>
              <a:t>of the </a:t>
            </a:r>
            <a:r>
              <a:rPr lang="en-US" sz="1800" dirty="0">
                <a:solidFill>
                  <a:srgbClr val="2411AF"/>
                </a:solidFill>
              </a:rPr>
              <a:t>PHP</a:t>
            </a:r>
            <a:r>
              <a:rPr lang="en-US" sz="1800" dirty="0"/>
              <a:t> </a:t>
            </a:r>
            <a:r>
              <a:rPr lang="en-US" sz="1800" dirty="0">
                <a:solidFill>
                  <a:srgbClr val="2411AF"/>
                </a:solidFill>
              </a:rPr>
              <a:t>variable</a:t>
            </a:r>
            <a:r>
              <a:rPr lang="en-US" sz="1800" dirty="0"/>
              <a:t> to </a:t>
            </a:r>
            <a:r>
              <a:rPr lang="en-US" sz="1800" dirty="0">
                <a:solidFill>
                  <a:srgbClr val="00B050"/>
                </a:solidFill>
              </a:rPr>
              <a:t>bind</a:t>
            </a:r>
            <a:r>
              <a:rPr lang="en-US" sz="1800" dirty="0"/>
              <a:t> to the </a:t>
            </a:r>
            <a:r>
              <a:rPr lang="en-US" sz="1800" dirty="0">
                <a:solidFill>
                  <a:srgbClr val="00B050"/>
                </a:solidFill>
              </a:rPr>
              <a:t>SQL</a:t>
            </a:r>
            <a:r>
              <a:rPr lang="en-US" sz="1800" dirty="0"/>
              <a:t> statement </a:t>
            </a:r>
            <a:r>
              <a:rPr lang="en-US" sz="1800" dirty="0">
                <a:solidFill>
                  <a:srgbClr val="2411AF"/>
                </a:solidFill>
              </a:rPr>
              <a:t>parameter</a:t>
            </a:r>
            <a:r>
              <a:rPr lang="en-US" sz="1800" dirty="0"/>
              <a:t>. </a:t>
            </a:r>
            <a:endParaRPr lang="en-US" sz="1800" dirty="0" smtClean="0"/>
          </a:p>
          <a:p>
            <a:endParaRPr lang="en-US" sz="1200" dirty="0" smtClean="0">
              <a:solidFill>
                <a:srgbClr val="FF0000"/>
              </a:solidFill>
            </a:endParaRPr>
          </a:p>
          <a:p>
            <a:r>
              <a:rPr lang="en-US" sz="1800" dirty="0" err="1" smtClean="0">
                <a:solidFill>
                  <a:srgbClr val="FF0000"/>
                </a:solidFill>
              </a:rPr>
              <a:t>datatype</a:t>
            </a:r>
            <a:r>
              <a:rPr lang="en-US" sz="1800" dirty="0" smtClean="0">
                <a:solidFill>
                  <a:srgbClr val="FF0000"/>
                </a:solidFill>
              </a:rPr>
              <a:t> :</a:t>
            </a:r>
            <a:r>
              <a:rPr lang="en-US" sz="1800" dirty="0" smtClean="0"/>
              <a:t> The </a:t>
            </a:r>
            <a:r>
              <a:rPr lang="en-US" sz="1800" dirty="0" err="1"/>
              <a:t>datatype</a:t>
            </a:r>
            <a:r>
              <a:rPr lang="en-US" sz="1800" dirty="0"/>
              <a:t> parameter </a:t>
            </a:r>
            <a:r>
              <a:rPr lang="en-US" sz="1800" dirty="0" smtClean="0"/>
              <a:t> sets </a:t>
            </a:r>
            <a:r>
              <a:rPr lang="en-US" sz="1800" dirty="0"/>
              <a:t>the parameter </a:t>
            </a:r>
            <a:r>
              <a:rPr lang="en-US" sz="1800" dirty="0" err="1"/>
              <a:t>datatype</a:t>
            </a:r>
            <a:r>
              <a:rPr lang="en-US" sz="1800" dirty="0"/>
              <a:t>, and can </a:t>
            </a:r>
            <a:r>
              <a:rPr lang="en-US" sz="1800" dirty="0" smtClean="0"/>
              <a:t>be :</a:t>
            </a:r>
            <a:endParaRPr lang="en-US" sz="1800" dirty="0"/>
          </a:p>
          <a:p>
            <a:pPr lvl="1"/>
            <a:r>
              <a:rPr lang="en-US" sz="1800" dirty="0" smtClean="0"/>
              <a:t> PDO::PARAM_NULL       : SQL </a:t>
            </a:r>
            <a:r>
              <a:rPr lang="en-US" sz="1800" dirty="0"/>
              <a:t>NULL </a:t>
            </a:r>
            <a:r>
              <a:rPr lang="en-US" sz="1800" dirty="0" err="1"/>
              <a:t>datatype</a:t>
            </a:r>
            <a:endParaRPr lang="en-US" sz="1800" dirty="0"/>
          </a:p>
          <a:p>
            <a:pPr lvl="1"/>
            <a:r>
              <a:rPr lang="en-US" sz="1800" dirty="0" smtClean="0"/>
              <a:t> PDO::PARAM_INT          : </a:t>
            </a:r>
            <a:r>
              <a:rPr lang="en-US" sz="1800" dirty="0"/>
              <a:t>SQL INTEGER </a:t>
            </a:r>
            <a:r>
              <a:rPr lang="en-US" sz="1800" dirty="0" err="1"/>
              <a:t>datatype</a:t>
            </a:r>
            <a:endParaRPr lang="en-US" sz="1800" dirty="0"/>
          </a:p>
          <a:p>
            <a:pPr lvl="1"/>
            <a:r>
              <a:rPr lang="en-US" sz="1800" dirty="0" smtClean="0"/>
              <a:t> </a:t>
            </a:r>
            <a:r>
              <a:rPr lang="en-US" sz="1800" dirty="0"/>
              <a:t>PDO :: </a:t>
            </a:r>
            <a:r>
              <a:rPr lang="en-US" sz="1800" dirty="0" smtClean="0"/>
              <a:t>PARAM_STR 	    : </a:t>
            </a:r>
            <a:r>
              <a:rPr lang="en-US" sz="1800" dirty="0"/>
              <a:t>SQL CHAR, VARCHAR, and other string </a:t>
            </a:r>
            <a:r>
              <a:rPr lang="en-US" sz="1800" dirty="0" err="1"/>
              <a:t>datatypes</a:t>
            </a:r>
            <a:endParaRPr lang="en-US" sz="1800" dirty="0"/>
          </a:p>
          <a:p>
            <a:pPr lvl="1"/>
            <a:r>
              <a:rPr lang="en-US" sz="1800" dirty="0" smtClean="0"/>
              <a:t> </a:t>
            </a:r>
            <a:r>
              <a:rPr lang="en-US" sz="1800" dirty="0"/>
              <a:t>PDO :: </a:t>
            </a:r>
            <a:r>
              <a:rPr lang="en-US" sz="1800" dirty="0" smtClean="0"/>
              <a:t>PARAM_LOB       : </a:t>
            </a:r>
            <a:r>
              <a:rPr lang="en-US" sz="1800" dirty="0"/>
              <a:t>SQL large object </a:t>
            </a:r>
            <a:r>
              <a:rPr lang="en-US" sz="1800" dirty="0" err="1"/>
              <a:t>datatype</a:t>
            </a:r>
            <a:endParaRPr lang="en-US" sz="1800" dirty="0"/>
          </a:p>
          <a:p>
            <a:endParaRPr lang="en-US" sz="1200" dirty="0" smtClean="0">
              <a:solidFill>
                <a:srgbClr val="FF0000"/>
              </a:solidFill>
            </a:endParaRPr>
          </a:p>
          <a:p>
            <a:r>
              <a:rPr lang="en-US" sz="1800" dirty="0" smtClean="0">
                <a:solidFill>
                  <a:srgbClr val="FF0000"/>
                </a:solidFill>
              </a:rPr>
              <a:t>Length : </a:t>
            </a:r>
            <a:r>
              <a:rPr lang="en-US" sz="1800" dirty="0" smtClean="0"/>
              <a:t>it  </a:t>
            </a:r>
            <a:r>
              <a:rPr lang="en-US" sz="1800" dirty="0"/>
              <a:t>specifies the </a:t>
            </a:r>
            <a:r>
              <a:rPr lang="en-US" sz="1800" dirty="0" err="1"/>
              <a:t>datatype’s</a:t>
            </a:r>
            <a:r>
              <a:rPr lang="en-US" sz="1800" dirty="0"/>
              <a:t> length. </a:t>
            </a:r>
            <a:endParaRPr lang="en-US" sz="1200" dirty="0" smtClean="0">
              <a:solidFill>
                <a:srgbClr val="FF0000"/>
              </a:solidFill>
            </a:endParaRPr>
          </a:p>
          <a:p>
            <a:r>
              <a:rPr lang="en-US" sz="1800" dirty="0" err="1" smtClean="0">
                <a:solidFill>
                  <a:srgbClr val="FF0000"/>
                </a:solidFill>
              </a:rPr>
              <a:t>driver_options</a:t>
            </a:r>
            <a:r>
              <a:rPr lang="en-US" sz="1800" dirty="0" smtClean="0">
                <a:solidFill>
                  <a:srgbClr val="FF0000"/>
                </a:solidFill>
              </a:rPr>
              <a:t>: </a:t>
            </a:r>
            <a:r>
              <a:rPr lang="en-US" sz="1800" dirty="0" smtClean="0"/>
              <a:t>it is </a:t>
            </a:r>
            <a:r>
              <a:rPr lang="en-US" sz="1800" dirty="0"/>
              <a:t>used to </a:t>
            </a:r>
            <a:r>
              <a:rPr lang="en-US" sz="1800" dirty="0" smtClean="0"/>
              <a:t>pass along </a:t>
            </a:r>
            <a:r>
              <a:rPr lang="en-US" sz="1800" dirty="0"/>
              <a:t>any database driver–specific options.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u="sng" dirty="0"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6565554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80772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</a:rPr>
              <a:t>The </a:t>
            </a:r>
            <a:r>
              <a:rPr lang="en-US" sz="3200" b="1" dirty="0" err="1">
                <a:solidFill>
                  <a:srgbClr val="00B0F0"/>
                </a:solidFill>
              </a:rPr>
              <a:t>lastInsertId</a:t>
            </a:r>
            <a:r>
              <a:rPr lang="en-US" sz="3200" b="1" dirty="0">
                <a:solidFill>
                  <a:srgbClr val="00B0F0"/>
                </a:solidFill>
              </a:rPr>
              <a:t>() </a:t>
            </a:r>
            <a:r>
              <a:rPr lang="en-US" sz="3200" b="1" dirty="0" smtClean="0">
                <a:solidFill>
                  <a:srgbClr val="0070C0"/>
                </a:solidFill>
              </a:rPr>
              <a:t> Method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0"/>
            <a:ext cx="8534400" cy="6400800"/>
          </a:xfrm>
        </p:spPr>
        <p:txBody>
          <a:bodyPr>
            <a:noAutofit/>
          </a:bodyPr>
          <a:lstStyle/>
          <a:p>
            <a:r>
              <a:rPr lang="en-US" sz="2000" dirty="0" smtClean="0"/>
              <a:t> It is used to Get </a:t>
            </a:r>
            <a:r>
              <a:rPr lang="en-US" sz="2000" dirty="0"/>
              <a:t>ID of The Last Inserted </a:t>
            </a:r>
            <a:r>
              <a:rPr lang="en-US" sz="2000" dirty="0" smtClean="0"/>
              <a:t>Record</a:t>
            </a:r>
            <a:r>
              <a:rPr lang="en-US" sz="2000" b="1" dirty="0"/>
              <a:t> </a:t>
            </a:r>
            <a:r>
              <a:rPr lang="en-US" sz="2000" b="1" dirty="0" smtClean="0"/>
              <a:t> </a:t>
            </a:r>
            <a:r>
              <a:rPr lang="en-US" sz="2000" dirty="0" smtClean="0"/>
              <a:t>If </a:t>
            </a:r>
            <a:r>
              <a:rPr lang="en-US" sz="2000" dirty="0"/>
              <a:t>we perform an </a:t>
            </a:r>
            <a:r>
              <a:rPr lang="en-US" sz="2000" i="1" dirty="0">
                <a:solidFill>
                  <a:srgbClr val="00B050"/>
                </a:solidFill>
              </a:rPr>
              <a:t>INSERT</a:t>
            </a:r>
            <a:r>
              <a:rPr lang="en-US" sz="2000" dirty="0"/>
              <a:t> or </a:t>
            </a:r>
            <a:r>
              <a:rPr lang="en-US" sz="2000" i="1" dirty="0">
                <a:solidFill>
                  <a:srgbClr val="00B050"/>
                </a:solidFill>
              </a:rPr>
              <a:t>UPDATE</a:t>
            </a:r>
            <a:r>
              <a:rPr lang="en-US" sz="2000" dirty="0"/>
              <a:t> on a table with an </a:t>
            </a:r>
            <a:r>
              <a:rPr lang="en-US" sz="2000" dirty="0">
                <a:solidFill>
                  <a:srgbClr val="FF0000"/>
                </a:solidFill>
              </a:rPr>
              <a:t>AUTO_INCREMENT</a:t>
            </a:r>
            <a:r>
              <a:rPr lang="en-US" sz="2000" dirty="0"/>
              <a:t> field, we can get the ID of the last inserted/updated record immediately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Ex:</a:t>
            </a:r>
          </a:p>
          <a:p>
            <a:pPr marL="0" marR="0" indent="0">
              <a:spcBef>
                <a:spcPts val="0"/>
              </a:spcBef>
              <a:buNone/>
              <a:tabLst>
                <a:tab pos="342900" algn="l"/>
              </a:tabLst>
            </a:pPr>
            <a:r>
              <a:rPr lang="en-US" sz="2000" dirty="0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&lt;?</a:t>
            </a:r>
            <a:r>
              <a:rPr lang="en-US" sz="2000" dirty="0" err="1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php</a:t>
            </a:r>
            <a:r>
              <a:rPr lang="en-US" sz="2000" dirty="0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  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servername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= 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localhost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 $user = 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"username"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 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         $password = 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"password"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    $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dbname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= 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myDBPDO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try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{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$conn= </a:t>
            </a:r>
            <a:r>
              <a:rPr lang="en-US" sz="1600" dirty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new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PDO(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mysql:host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=$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servername;dbname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=$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dbname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, $user, $password);</a:t>
            </a:r>
            <a:b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</a:t>
            </a:r>
            <a:r>
              <a:rPr lang="en-US" sz="2000" dirty="0">
                <a:solidFill>
                  <a:srgbClr val="008000"/>
                </a:solidFill>
                <a:latin typeface="Consolas"/>
                <a:ea typeface="Times New Roman"/>
                <a:cs typeface="Arial"/>
              </a:rPr>
              <a:t>// set the PDO error mode to exception</a:t>
            </a:r>
            <a:br>
              <a:rPr lang="en-US" sz="2000" dirty="0">
                <a:solidFill>
                  <a:srgbClr val="008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 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$conn-&gt;</a:t>
            </a:r>
            <a:r>
              <a:rPr lang="en-US" sz="16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setAttribute</a:t>
            </a:r>
            <a: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(PDO::ATTR_ERRMODE, PDO::ERRMODE_EXCEPTION);</a:t>
            </a:r>
            <a:br>
              <a:rPr lang="en-US" sz="16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sql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=</a:t>
            </a:r>
            <a:r>
              <a:rPr lang="en-US" sz="28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INSERT INTO </a:t>
            </a:r>
            <a:r>
              <a:rPr lang="en-US" sz="16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info(name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, </a:t>
            </a:r>
            <a:r>
              <a:rPr lang="en-US" sz="16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id, gender) 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VALUES ('</a:t>
            </a:r>
            <a:r>
              <a:rPr lang="en-US" sz="16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akrem</a:t>
            </a:r>
            <a:r>
              <a:rPr lang="en-US" sz="16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', </a:t>
            </a:r>
            <a:r>
              <a:rPr lang="en-US" sz="16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111 ,'male'</a:t>
            </a:r>
            <a:r>
              <a:rPr lang="en-US" sz="17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)</a:t>
            </a:r>
            <a:r>
              <a:rPr lang="en-US" sz="1800" dirty="0" smtClean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</a:t>
            </a:r>
            <a:r>
              <a:rPr lang="en-US" sz="18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</a:t>
            </a:r>
            <a:r>
              <a:rPr lang="en-US" sz="2800" dirty="0">
                <a:solidFill>
                  <a:srgbClr val="008000"/>
                </a:solidFill>
                <a:latin typeface="Consolas"/>
                <a:ea typeface="Times New Roman"/>
                <a:cs typeface="Arial"/>
              </a:rPr>
              <a:t/>
            </a:r>
            <a:br>
              <a:rPr lang="en-US" sz="2800" dirty="0">
                <a:solidFill>
                  <a:srgbClr val="008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$conn-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&gt;exec($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sql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);</a:t>
            </a:r>
          </a:p>
          <a:p>
            <a:pPr marL="0" marR="0" indent="0">
              <a:spcBef>
                <a:spcPts val="0"/>
              </a:spcBef>
              <a:buNone/>
              <a:tabLst>
                <a:tab pos="342900" algn="l"/>
              </a:tabLst>
            </a:pP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   </a:t>
            </a:r>
            <a:r>
              <a:rPr lang="en-US" sz="2000" dirty="0"/>
              <a:t>$</a:t>
            </a:r>
            <a:r>
              <a:rPr lang="en-US" sz="2000" dirty="0" err="1"/>
              <a:t>last_id</a:t>
            </a:r>
            <a:r>
              <a:rPr lang="en-US" sz="2000" dirty="0"/>
              <a:t> = $conn-&gt;</a:t>
            </a:r>
            <a:r>
              <a:rPr lang="en-US" sz="2000" dirty="0" err="1"/>
              <a:t>lastInsertId</a:t>
            </a:r>
            <a:r>
              <a:rPr lang="en-US" sz="2000" dirty="0"/>
              <a:t>();</a:t>
            </a:r>
            <a:br>
              <a:rPr lang="en-US" sz="2000" dirty="0"/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</a:t>
            </a:r>
            <a:r>
              <a:rPr lang="en-US" sz="2000" dirty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echo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</a:t>
            </a:r>
            <a:r>
              <a:rPr lang="en-US" sz="2000" dirty="0"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/>
              <a:t> Last inserted ID </a:t>
            </a:r>
            <a:r>
              <a:rPr lang="en-US" sz="2000" dirty="0" smtClean="0"/>
              <a:t>is :  $</a:t>
            </a:r>
            <a:r>
              <a:rPr lang="en-US" sz="2000" dirty="0"/>
              <a:t> </a:t>
            </a:r>
            <a:r>
              <a:rPr lang="en-US" sz="2000" dirty="0" err="1"/>
              <a:t>last_id</a:t>
            </a:r>
            <a:r>
              <a:rPr lang="en-US" sz="2000" dirty="0"/>
              <a:t> </a:t>
            </a:r>
            <a:r>
              <a:rPr lang="en-US" sz="2000" dirty="0" smtClean="0">
                <a:latin typeface="Consolas"/>
                <a:ea typeface="Times New Roman"/>
                <a:cs typeface="Arial"/>
              </a:rPr>
              <a:t>"</a:t>
            </a:r>
            <a:r>
              <a:rPr lang="en-US" sz="2000" dirty="0" smtClean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;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/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 }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catch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PDOException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$e)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 {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     </a:t>
            </a:r>
            <a:r>
              <a:rPr lang="en-US" sz="2000" dirty="0">
                <a:solidFill>
                  <a:srgbClr val="0000CD"/>
                </a:solidFill>
                <a:latin typeface="Consolas"/>
                <a:ea typeface="Times New Roman"/>
                <a:cs typeface="Arial"/>
              </a:rPr>
              <a:t>echo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$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sql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 . 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"&lt;</a:t>
            </a:r>
            <a:r>
              <a:rPr lang="en-US" sz="2000" dirty="0" err="1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br</a:t>
            </a:r>
            <a:r>
              <a:rPr lang="en-US" sz="2000" dirty="0">
                <a:solidFill>
                  <a:srgbClr val="A52A2A"/>
                </a:solidFill>
                <a:latin typeface="Consolas"/>
                <a:ea typeface="Times New Roman"/>
                <a:cs typeface="Arial"/>
              </a:rPr>
              <a:t>&gt;"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. $e-&gt;</a:t>
            </a:r>
            <a:r>
              <a:rPr lang="en-US" sz="2000" dirty="0" err="1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getMessage</a:t>
            </a: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();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    }</a:t>
            </a:r>
            <a:b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</a:br>
            <a:r>
              <a:rPr lang="en-US" sz="2000" dirty="0">
                <a:solidFill>
                  <a:srgbClr val="000000"/>
                </a:solidFill>
                <a:latin typeface="Consolas"/>
                <a:ea typeface="Times New Roman"/>
                <a:cs typeface="Arial"/>
              </a:rPr>
              <a:t>$conn = null; </a:t>
            </a:r>
            <a:r>
              <a:rPr lang="en-US" sz="2000" dirty="0">
                <a:solidFill>
                  <a:srgbClr val="FF0000"/>
                </a:solidFill>
                <a:latin typeface="Consolas"/>
                <a:ea typeface="Times New Roman"/>
                <a:cs typeface="Arial"/>
              </a:rPr>
              <a:t>?&gt;</a:t>
            </a: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u="sng" dirty="0"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4146527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0"/>
            <a:ext cx="8077200" cy="45720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 smtClean="0">
                <a:solidFill>
                  <a:srgbClr val="0070C0"/>
                </a:solidFill>
              </a:rPr>
              <a:t>The </a:t>
            </a:r>
            <a:r>
              <a:rPr lang="en-US" sz="3200" b="1" dirty="0" err="1" smtClean="0">
                <a:solidFill>
                  <a:srgbClr val="00B0F0"/>
                </a:solidFill>
              </a:rPr>
              <a:t>columnCount</a:t>
            </a:r>
            <a:r>
              <a:rPr lang="en-US" sz="3200" b="1" dirty="0" smtClean="0">
                <a:solidFill>
                  <a:srgbClr val="00B0F0"/>
                </a:solidFill>
              </a:rPr>
              <a:t>()/</a:t>
            </a:r>
            <a:r>
              <a:rPr lang="en-US" sz="3200" b="1" dirty="0" err="1">
                <a:solidFill>
                  <a:srgbClr val="00B0F0"/>
                </a:solidFill>
              </a:rPr>
              <a:t>rowCount</a:t>
            </a:r>
            <a:r>
              <a:rPr lang="en-US" sz="3200" b="1" dirty="0">
                <a:solidFill>
                  <a:srgbClr val="00B0F0"/>
                </a:solidFill>
              </a:rPr>
              <a:t>()</a:t>
            </a:r>
            <a:r>
              <a:rPr lang="en-US" sz="3200" b="1" dirty="0" smtClean="0">
                <a:solidFill>
                  <a:srgbClr val="00B0F0"/>
                </a:solidFill>
              </a:rPr>
              <a:t> </a:t>
            </a:r>
            <a:r>
              <a:rPr lang="en-US" sz="3200" b="1" dirty="0" smtClean="0">
                <a:solidFill>
                  <a:srgbClr val="0070C0"/>
                </a:solidFill>
              </a:rPr>
              <a:t> Methods </a:t>
            </a:r>
            <a:endParaRPr lang="en-US" sz="3200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57200"/>
            <a:ext cx="8534400" cy="6400800"/>
          </a:xfrm>
        </p:spPr>
        <p:txBody>
          <a:bodyPr>
            <a:noAutofit/>
          </a:bodyPr>
          <a:lstStyle/>
          <a:p>
            <a:r>
              <a:rPr lang="en-US" sz="2000" b="1" dirty="0" err="1" smtClean="0">
                <a:solidFill>
                  <a:srgbClr val="0070C0"/>
                </a:solidFill>
              </a:rPr>
              <a:t>columnCount</a:t>
            </a:r>
            <a:r>
              <a:rPr lang="en-US" sz="2000" dirty="0" smtClean="0">
                <a:solidFill>
                  <a:srgbClr val="0070C0"/>
                </a:solidFill>
              </a:rPr>
              <a:t>() : </a:t>
            </a:r>
            <a:r>
              <a:rPr lang="en-US" sz="2400" u="sng" dirty="0" smtClean="0">
                <a:solidFill>
                  <a:srgbClr val="7030A0"/>
                </a:solidFill>
              </a:rPr>
              <a:t>Syntax :</a:t>
            </a:r>
            <a:r>
              <a:rPr lang="en-US" sz="2400" dirty="0" smtClean="0">
                <a:solidFill>
                  <a:srgbClr val="00B050"/>
                </a:solidFill>
              </a:rPr>
              <a:t>      </a:t>
            </a:r>
            <a:r>
              <a:rPr lang="en-US" sz="2000" dirty="0" err="1" smtClean="0">
                <a:solidFill>
                  <a:srgbClr val="00B050"/>
                </a:solidFill>
              </a:rPr>
              <a:t>int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b="1" dirty="0" err="1">
                <a:solidFill>
                  <a:srgbClr val="2411AF"/>
                </a:solidFill>
              </a:rPr>
              <a:t>PDOStatement</a:t>
            </a:r>
            <a:r>
              <a:rPr lang="en-US" sz="2000" b="1" dirty="0"/>
              <a:t>::</a:t>
            </a:r>
            <a:r>
              <a:rPr lang="en-US" sz="2000" b="1" dirty="0" err="1">
                <a:solidFill>
                  <a:srgbClr val="0070C0"/>
                </a:solidFill>
              </a:rPr>
              <a:t>columnCount</a:t>
            </a:r>
            <a:r>
              <a:rPr lang="en-US" sz="2000" dirty="0"/>
              <a:t> ( </a:t>
            </a:r>
            <a:r>
              <a:rPr lang="en-US" sz="2000" dirty="0">
                <a:solidFill>
                  <a:srgbClr val="00B050"/>
                </a:solidFill>
              </a:rPr>
              <a:t>void</a:t>
            </a:r>
            <a:r>
              <a:rPr lang="en-US" sz="2000" dirty="0"/>
              <a:t> )</a:t>
            </a:r>
          </a:p>
          <a:p>
            <a:pPr marL="0" indent="0">
              <a:buNone/>
            </a:pPr>
            <a:r>
              <a:rPr lang="en-US" sz="2000" dirty="0" smtClean="0"/>
              <a:t>It is Used </a:t>
            </a:r>
            <a:r>
              <a:rPr lang="en-US" sz="2000" dirty="0"/>
              <a:t>to return the number of columns in the result set represented by the </a:t>
            </a:r>
            <a:r>
              <a:rPr lang="en-US" sz="2000" dirty="0" err="1">
                <a:solidFill>
                  <a:srgbClr val="FF0000"/>
                </a:solidFill>
              </a:rPr>
              <a:t>PDOStatement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object. </a:t>
            </a:r>
          </a:p>
          <a:p>
            <a:r>
              <a:rPr lang="en-US" sz="2000" dirty="0"/>
              <a:t>If the </a:t>
            </a:r>
            <a:r>
              <a:rPr lang="en-US" sz="2000" dirty="0" err="1">
                <a:solidFill>
                  <a:srgbClr val="FF0000"/>
                </a:solidFill>
              </a:rPr>
              <a:t>PDOStatement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object was returned from </a:t>
            </a:r>
            <a:r>
              <a:rPr lang="en-US" sz="2000" dirty="0">
                <a:solidFill>
                  <a:srgbClr val="2411AF"/>
                </a:solidFill>
              </a:rPr>
              <a:t>PDO</a:t>
            </a:r>
            <a:r>
              <a:rPr lang="en-US" sz="2000" dirty="0"/>
              <a:t>::</a:t>
            </a:r>
            <a:r>
              <a:rPr lang="en-US" sz="2000" dirty="0">
                <a:solidFill>
                  <a:srgbClr val="0070C0"/>
                </a:solidFill>
              </a:rPr>
              <a:t>query</a:t>
            </a:r>
            <a:r>
              <a:rPr lang="en-US" sz="2000" dirty="0"/>
              <a:t>(), the column count is immediately available. </a:t>
            </a:r>
          </a:p>
          <a:p>
            <a:r>
              <a:rPr lang="en-US" sz="2000" dirty="0"/>
              <a:t>If the </a:t>
            </a:r>
            <a:r>
              <a:rPr lang="en-US" sz="2000" dirty="0" err="1">
                <a:solidFill>
                  <a:srgbClr val="FF0000"/>
                </a:solidFill>
              </a:rPr>
              <a:t>PDOStatement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object was returned from </a:t>
            </a:r>
            <a:r>
              <a:rPr lang="en-US" sz="2000" dirty="0">
                <a:solidFill>
                  <a:srgbClr val="2411AF"/>
                </a:solidFill>
              </a:rPr>
              <a:t>PDO</a:t>
            </a:r>
            <a:r>
              <a:rPr lang="en-US" sz="2000" dirty="0"/>
              <a:t>::</a:t>
            </a:r>
            <a:r>
              <a:rPr lang="en-US" sz="2000" dirty="0">
                <a:solidFill>
                  <a:srgbClr val="002060"/>
                </a:solidFill>
              </a:rPr>
              <a:t>prepare</a:t>
            </a:r>
            <a:r>
              <a:rPr lang="en-US" sz="2000" dirty="0"/>
              <a:t>(), an accurate </a:t>
            </a:r>
            <a:r>
              <a:rPr lang="en-US" sz="2000" dirty="0">
                <a:solidFill>
                  <a:srgbClr val="0070C0"/>
                </a:solidFill>
              </a:rPr>
              <a:t>column count </a:t>
            </a:r>
            <a:r>
              <a:rPr lang="en-US" sz="2000" dirty="0"/>
              <a:t>will not be available </a:t>
            </a:r>
            <a:r>
              <a:rPr lang="en-US" sz="2000" dirty="0">
                <a:solidFill>
                  <a:srgbClr val="00B050"/>
                </a:solidFill>
              </a:rPr>
              <a:t>until</a:t>
            </a:r>
            <a:r>
              <a:rPr lang="en-US" sz="2000" dirty="0"/>
              <a:t> you </a:t>
            </a:r>
            <a:r>
              <a:rPr lang="en-US" sz="2000" dirty="0">
                <a:solidFill>
                  <a:srgbClr val="00B050"/>
                </a:solidFill>
              </a:rPr>
              <a:t>invoke</a:t>
            </a:r>
            <a:r>
              <a:rPr lang="en-US" sz="2000" dirty="0"/>
              <a:t> </a:t>
            </a:r>
            <a:r>
              <a:rPr lang="en-US" sz="2000" dirty="0" err="1">
                <a:solidFill>
                  <a:srgbClr val="2411AF"/>
                </a:solidFill>
              </a:rPr>
              <a:t>PDOStatement</a:t>
            </a:r>
            <a:r>
              <a:rPr lang="en-US" sz="2000" dirty="0"/>
              <a:t>::</a:t>
            </a:r>
            <a:r>
              <a:rPr lang="en-US" sz="2000" b="1" dirty="0">
                <a:solidFill>
                  <a:srgbClr val="0070C0"/>
                </a:solidFill>
              </a:rPr>
              <a:t>execute</a:t>
            </a:r>
            <a:r>
              <a:rPr lang="en-US" sz="2000" dirty="0" smtClean="0"/>
              <a:t>().</a:t>
            </a:r>
          </a:p>
          <a:p>
            <a:r>
              <a:rPr lang="en-US" sz="2000" dirty="0" smtClean="0"/>
              <a:t>----------------</a:t>
            </a:r>
          </a:p>
          <a:p>
            <a:r>
              <a:rPr lang="en-US" sz="2000" b="1" dirty="0" err="1" smtClean="0">
                <a:solidFill>
                  <a:srgbClr val="0070C0"/>
                </a:solidFill>
              </a:rPr>
              <a:t>rowCount</a:t>
            </a:r>
            <a:r>
              <a:rPr lang="en-US" sz="2000" dirty="0" smtClean="0">
                <a:solidFill>
                  <a:srgbClr val="0070C0"/>
                </a:solidFill>
              </a:rPr>
              <a:t>() </a:t>
            </a:r>
            <a:r>
              <a:rPr lang="en-US" sz="2000" dirty="0">
                <a:solidFill>
                  <a:srgbClr val="0070C0"/>
                </a:solidFill>
              </a:rPr>
              <a:t>: </a:t>
            </a:r>
            <a:r>
              <a:rPr lang="en-US" sz="2000" dirty="0">
                <a:solidFill>
                  <a:prstClr val="black"/>
                </a:solidFill>
              </a:rPr>
              <a:t> Returns the number of </a:t>
            </a:r>
            <a:r>
              <a:rPr lang="en-US" sz="2000" dirty="0" smtClean="0">
                <a:solidFill>
                  <a:prstClr val="black"/>
                </a:solidFill>
              </a:rPr>
              <a:t>rows </a:t>
            </a:r>
            <a:r>
              <a:rPr lang="en-US" sz="2000" dirty="0"/>
              <a:t>affected by the last DELETE, INSERT, or UPDATE statement executed by</a:t>
            </a:r>
            <a:r>
              <a:rPr lang="en-US" sz="2000" dirty="0" smtClean="0">
                <a:solidFill>
                  <a:prstClr val="black"/>
                </a:solidFill>
              </a:rPr>
              <a:t> the </a:t>
            </a:r>
            <a:r>
              <a:rPr lang="en-US" sz="2000" dirty="0" err="1">
                <a:solidFill>
                  <a:srgbClr val="FF0000"/>
                </a:solidFill>
              </a:rPr>
              <a:t>PDOStatement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object. </a:t>
            </a:r>
            <a:endParaRPr lang="en-US" sz="2000" dirty="0" smtClean="0">
              <a:solidFill>
                <a:prstClr val="black"/>
              </a:solidFill>
            </a:endParaRPr>
          </a:p>
          <a:p>
            <a:r>
              <a:rPr lang="en-US" sz="2000" dirty="0"/>
              <a:t>If the last SQL statement </a:t>
            </a:r>
            <a:r>
              <a:rPr lang="en-US" sz="2000" dirty="0" smtClean="0"/>
              <a:t>is </a:t>
            </a:r>
            <a:r>
              <a:rPr lang="en-US" sz="2000" dirty="0"/>
              <a:t>a SELECT statement, </a:t>
            </a:r>
            <a:r>
              <a:rPr lang="en-US" sz="2000" dirty="0">
                <a:solidFill>
                  <a:srgbClr val="0070C0"/>
                </a:solidFill>
              </a:rPr>
              <a:t>some databases may</a:t>
            </a:r>
            <a:r>
              <a:rPr lang="en-US" sz="2000" dirty="0"/>
              <a:t> return the </a:t>
            </a:r>
            <a:r>
              <a:rPr lang="en-US" sz="2000" dirty="0">
                <a:solidFill>
                  <a:srgbClr val="92D050"/>
                </a:solidFill>
              </a:rPr>
              <a:t>number of rows </a:t>
            </a:r>
            <a:r>
              <a:rPr lang="en-US" sz="2000" dirty="0"/>
              <a:t>returned by that statement. </a:t>
            </a:r>
            <a:r>
              <a:rPr lang="en-US" sz="2000" dirty="0">
                <a:solidFill>
                  <a:srgbClr val="FF0000"/>
                </a:solidFill>
              </a:rPr>
              <a:t>However</a:t>
            </a:r>
            <a:r>
              <a:rPr lang="en-US" sz="2000" dirty="0"/>
              <a:t>, this </a:t>
            </a:r>
            <a:r>
              <a:rPr lang="en-US" sz="2000" dirty="0" err="1"/>
              <a:t>behaviour</a:t>
            </a:r>
            <a:r>
              <a:rPr lang="en-US" sz="2000" dirty="0"/>
              <a:t> is </a:t>
            </a:r>
            <a:r>
              <a:rPr lang="en-US" sz="2000" dirty="0">
                <a:solidFill>
                  <a:srgbClr val="FF0000"/>
                </a:solidFill>
              </a:rPr>
              <a:t>not guaranteed </a:t>
            </a:r>
            <a:r>
              <a:rPr lang="en-US" sz="2000" dirty="0"/>
              <a:t>for </a:t>
            </a:r>
            <a:r>
              <a:rPr lang="en-US" sz="2000" dirty="0">
                <a:solidFill>
                  <a:srgbClr val="0070C0"/>
                </a:solidFill>
              </a:rPr>
              <a:t>all </a:t>
            </a:r>
            <a:r>
              <a:rPr lang="en-US" sz="2000" dirty="0" smtClean="0">
                <a:solidFill>
                  <a:srgbClr val="0070C0"/>
                </a:solidFill>
              </a:rPr>
              <a:t>databases.</a:t>
            </a:r>
            <a:endParaRPr lang="en-US" sz="2000" dirty="0"/>
          </a:p>
          <a:p>
            <a:pPr lvl="0"/>
            <a:r>
              <a:rPr lang="en-US" sz="2400" u="sng" dirty="0" smtClean="0">
                <a:solidFill>
                  <a:srgbClr val="7030A0"/>
                </a:solidFill>
              </a:rPr>
              <a:t>Syntax </a:t>
            </a:r>
            <a:r>
              <a:rPr lang="en-US" sz="2400" u="sng" dirty="0">
                <a:solidFill>
                  <a:srgbClr val="7030A0"/>
                </a:solidFill>
              </a:rPr>
              <a:t>:</a:t>
            </a:r>
            <a:r>
              <a:rPr lang="en-US" sz="2400" dirty="0">
                <a:solidFill>
                  <a:srgbClr val="00B050"/>
                </a:solidFill>
              </a:rPr>
              <a:t>      </a:t>
            </a:r>
            <a:r>
              <a:rPr lang="en-US" sz="2000" dirty="0" err="1">
                <a:solidFill>
                  <a:srgbClr val="00B050"/>
                </a:solidFill>
              </a:rPr>
              <a:t>int</a:t>
            </a:r>
            <a:r>
              <a:rPr lang="en-US" sz="2000" dirty="0">
                <a:solidFill>
                  <a:srgbClr val="00B050"/>
                </a:solidFill>
              </a:rPr>
              <a:t> </a:t>
            </a:r>
            <a:r>
              <a:rPr lang="en-US" sz="2000" b="1" dirty="0" err="1">
                <a:solidFill>
                  <a:srgbClr val="2411AF"/>
                </a:solidFill>
              </a:rPr>
              <a:t>PDOStatement</a:t>
            </a:r>
            <a:r>
              <a:rPr lang="en-US" sz="2000" b="1" dirty="0" smtClean="0">
                <a:solidFill>
                  <a:prstClr val="black"/>
                </a:solidFill>
              </a:rPr>
              <a:t>::</a:t>
            </a:r>
            <a:r>
              <a:rPr lang="en-US" sz="2000" b="1" dirty="0" err="1" smtClean="0">
                <a:solidFill>
                  <a:srgbClr val="0070C0"/>
                </a:solidFill>
              </a:rPr>
              <a:t>rowCount</a:t>
            </a:r>
            <a:r>
              <a:rPr lang="en-US" sz="2000" dirty="0" smtClean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( </a:t>
            </a:r>
            <a:r>
              <a:rPr lang="en-US" sz="2000" dirty="0">
                <a:solidFill>
                  <a:srgbClr val="00B050"/>
                </a:solidFill>
              </a:rPr>
              <a:t>void</a:t>
            </a:r>
            <a:r>
              <a:rPr lang="en-US" sz="2000" dirty="0">
                <a:solidFill>
                  <a:prstClr val="black"/>
                </a:solidFill>
              </a:rPr>
              <a:t> )</a:t>
            </a:r>
          </a:p>
          <a:p>
            <a:r>
              <a:rPr lang="en-US" sz="2000" dirty="0" smtClean="0">
                <a:solidFill>
                  <a:srgbClr val="7030A0"/>
                </a:solidFill>
                <a:hlinkClick r:id="rId2" action="ppaction://hlinkfile"/>
              </a:rPr>
              <a:t>Ex:</a:t>
            </a:r>
            <a:endParaRPr lang="en-US" sz="2000" dirty="0" smtClean="0">
              <a:solidFill>
                <a:srgbClr val="7030A0"/>
              </a:solidFill>
            </a:endParaRP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endParaRPr lang="en-US" sz="1800" u="sng" dirty="0"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578538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Unk8vjtC9q0JAXtyxsX2O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Rcuf4iZwLgLEPe9Eifdx3u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uzParF19LzvJyR9qw266In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OOKFAmQ6LnTdkKqqzhwoax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XuPQogmzKvTp1YV9ymQ2Z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S8Cm1higbyIl35Abad2Rjv"/>
</p:tagLst>
</file>

<file path=ppt/theme/theme1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Training</Template>
  <TotalTime>0</TotalTime>
  <Words>1700</Words>
  <Application>Microsoft Office PowerPoint</Application>
  <PresentationFormat>On-screen Show (4:3)</PresentationFormat>
  <Paragraphs>180</Paragraphs>
  <Slides>23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Training</vt:lpstr>
      <vt:lpstr>database  </vt:lpstr>
      <vt:lpstr>PHP 5 and later establishes</vt:lpstr>
      <vt:lpstr>Using  MySQLi or PDO ?</vt:lpstr>
      <vt:lpstr>Working MySQL using PDO</vt:lpstr>
      <vt:lpstr>1.Connecting to the MySQL server</vt:lpstr>
      <vt:lpstr>Example (PDO connection)</vt:lpstr>
      <vt:lpstr>Getting and Setting Attributes</vt:lpstr>
      <vt:lpstr>Getting and Setting Attributes</vt:lpstr>
      <vt:lpstr>Error Handling</vt:lpstr>
      <vt:lpstr>Tip:</vt:lpstr>
      <vt:lpstr>2.sending sql  query </vt:lpstr>
      <vt:lpstr>The exec() method</vt:lpstr>
      <vt:lpstr>The query() method</vt:lpstr>
      <vt:lpstr>The fetch() method</vt:lpstr>
      <vt:lpstr>Example:</vt:lpstr>
      <vt:lpstr>The prepare() method</vt:lpstr>
      <vt:lpstr>The prepare() Example</vt:lpstr>
      <vt:lpstr>The execute() Method</vt:lpstr>
      <vt:lpstr>Example:</vt:lpstr>
      <vt:lpstr>Example:</vt:lpstr>
      <vt:lpstr>The execute()/bindParam() Method</vt:lpstr>
      <vt:lpstr>The lastInsertId()  Method</vt:lpstr>
      <vt:lpstr>The columnCount()/rowCount()  Methods </vt:lpstr>
    </vt:vector>
  </TitlesOfParts>
  <Manager/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2016-11-04T04:35:18Z</dcterms:created>
  <dcterms:modified xsi:type="dcterms:W3CDTF">2017-04-24T06:54:27Z</dcterms:modified>
</cp:coreProperties>
</file>